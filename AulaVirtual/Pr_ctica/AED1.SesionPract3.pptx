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28"/>
  </p:notesMasterIdLst>
  <p:sldIdLst>
    <p:sldId id="256" r:id="rId2"/>
    <p:sldId id="376" r:id="rId3"/>
    <p:sldId id="378" r:id="rId4"/>
    <p:sldId id="379" r:id="rId5"/>
    <p:sldId id="380" r:id="rId6"/>
    <p:sldId id="347" r:id="rId7"/>
    <p:sldId id="348" r:id="rId8"/>
    <p:sldId id="381" r:id="rId9"/>
    <p:sldId id="335" r:id="rId10"/>
    <p:sldId id="309" r:id="rId11"/>
    <p:sldId id="310" r:id="rId12"/>
    <p:sldId id="373" r:id="rId13"/>
    <p:sldId id="372" r:id="rId14"/>
    <p:sldId id="370" r:id="rId15"/>
    <p:sldId id="383" r:id="rId16"/>
    <p:sldId id="393" r:id="rId17"/>
    <p:sldId id="395" r:id="rId18"/>
    <p:sldId id="396" r:id="rId19"/>
    <p:sldId id="384" r:id="rId20"/>
    <p:sldId id="385" r:id="rId21"/>
    <p:sldId id="387" r:id="rId22"/>
    <p:sldId id="388" r:id="rId23"/>
    <p:sldId id="389" r:id="rId24"/>
    <p:sldId id="390" r:id="rId25"/>
    <p:sldId id="394" r:id="rId26"/>
    <p:sldId id="391" r:id="rId27"/>
  </p:sldIdLst>
  <p:sldSz cx="9144000" cy="6858000" type="screen4x3"/>
  <p:notesSz cx="6858000" cy="9144000"/>
  <p:defaultTextStyle>
    <a:defPPr>
      <a:defRPr lang="es-E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CFFF"/>
    <a:srgbClr val="00FFFF"/>
    <a:srgbClr val="FF00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16" autoAdjust="0"/>
    <p:restoredTop sz="94660"/>
  </p:normalViewPr>
  <p:slideViewPr>
    <p:cSldViewPr>
      <p:cViewPr varScale="1">
        <p:scale>
          <a:sx n="127" d="100"/>
          <a:sy n="127" d="100"/>
        </p:scale>
        <p:origin x="135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2CB89225-EDE3-48F1-99C9-1780017BC06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B32422DA-02D1-4AD4-9241-43B17D2AD28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81F4B787-40A4-8E11-65B0-EE31EC563D8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B18B6D98-6FB5-41B1-BAFC-E805FA107DB7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42B4080D-C1FE-4F18-ACE4-DE3EEF8FC41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15AB3F3E-189E-4187-B888-65D5CCBB8C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F05C352-F7F5-4B9C-83ED-40A742FD5496}" type="slidenum">
              <a:rPr lang="es-ES" altLang="es-ES"/>
              <a:pPr/>
              <a:t>‹Nº›</a:t>
            </a:fld>
            <a:endParaRPr lang="es-ES" alt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>
            <a:extLst>
              <a:ext uri="{FF2B5EF4-FFF2-40B4-BE49-F238E27FC236}">
                <a16:creationId xmlns:a16="http://schemas.microsoft.com/office/drawing/2014/main" id="{B9668487-EC4D-FB01-B41A-332FE3D334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5200" y="1066800"/>
            <a:ext cx="0" cy="449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ES"/>
          </a:p>
        </p:txBody>
      </p:sp>
      <p:grpSp>
        <p:nvGrpSpPr>
          <p:cNvPr id="3" name="Group 8">
            <a:extLst>
              <a:ext uri="{FF2B5EF4-FFF2-40B4-BE49-F238E27FC236}">
                <a16:creationId xmlns:a16="http://schemas.microsoft.com/office/drawing/2014/main" id="{E7B3A5FA-9D4F-5B1E-DCA3-9EEF8E7796A1}"/>
              </a:ext>
            </a:extLst>
          </p:cNvPr>
          <p:cNvGrpSpPr>
            <a:grpSpLocks/>
          </p:cNvGrpSpPr>
          <p:nvPr/>
        </p:nvGrpSpPr>
        <p:grpSpPr bwMode="auto">
          <a:xfrm>
            <a:off x="7493000" y="2992438"/>
            <a:ext cx="1338263" cy="2189162"/>
            <a:chOff x="4704" y="1885"/>
            <a:chExt cx="843" cy="1379"/>
          </a:xfrm>
        </p:grpSpPr>
        <p:sp>
          <p:nvSpPr>
            <p:cNvPr id="4" name="Oval 9">
              <a:extLst>
                <a:ext uri="{FF2B5EF4-FFF2-40B4-BE49-F238E27FC236}">
                  <a16:creationId xmlns:a16="http://schemas.microsoft.com/office/drawing/2014/main" id="{4B6BEE24-164C-9778-A486-E3A27DE582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5" name="Oval 10">
              <a:extLst>
                <a:ext uri="{FF2B5EF4-FFF2-40B4-BE49-F238E27FC236}">
                  <a16:creationId xmlns:a16="http://schemas.microsoft.com/office/drawing/2014/main" id="{26623C6B-BA90-3D0A-30E8-F5F70D72B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6" name="Oval 11">
              <a:extLst>
                <a:ext uri="{FF2B5EF4-FFF2-40B4-BE49-F238E27FC236}">
                  <a16:creationId xmlns:a16="http://schemas.microsoft.com/office/drawing/2014/main" id="{3DA50CEF-6D23-D0D7-D399-BA6C0EDE00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7" name="Oval 12">
              <a:extLst>
                <a:ext uri="{FF2B5EF4-FFF2-40B4-BE49-F238E27FC236}">
                  <a16:creationId xmlns:a16="http://schemas.microsoft.com/office/drawing/2014/main" id="{CDEB058D-1926-068E-9E6A-97F22D0349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8" name="Oval 13">
              <a:extLst>
                <a:ext uri="{FF2B5EF4-FFF2-40B4-BE49-F238E27FC236}">
                  <a16:creationId xmlns:a16="http://schemas.microsoft.com/office/drawing/2014/main" id="{A7E7194E-E399-66AA-FF11-2D58A88CD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9" name="Oval 14">
              <a:extLst>
                <a:ext uri="{FF2B5EF4-FFF2-40B4-BE49-F238E27FC236}">
                  <a16:creationId xmlns:a16="http://schemas.microsoft.com/office/drawing/2014/main" id="{5B6B29F6-5B3A-4152-B67C-3F976F292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" name="Oval 15">
              <a:extLst>
                <a:ext uri="{FF2B5EF4-FFF2-40B4-BE49-F238E27FC236}">
                  <a16:creationId xmlns:a16="http://schemas.microsoft.com/office/drawing/2014/main" id="{1B0AC339-E052-9A99-C900-0DA07867A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064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1" name="Oval 16">
              <a:extLst>
                <a:ext uri="{FF2B5EF4-FFF2-40B4-BE49-F238E27FC236}">
                  <a16:creationId xmlns:a16="http://schemas.microsoft.com/office/drawing/2014/main" id="{285CB57F-0C6E-3B2D-6C06-797052D5A8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2" name="Oval 17">
              <a:extLst>
                <a:ext uri="{FF2B5EF4-FFF2-40B4-BE49-F238E27FC236}">
                  <a16:creationId xmlns:a16="http://schemas.microsoft.com/office/drawing/2014/main" id="{36EFDD16-BB92-235C-1E8C-8EE59E3B77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3" name="Oval 18">
              <a:extLst>
                <a:ext uri="{FF2B5EF4-FFF2-40B4-BE49-F238E27FC236}">
                  <a16:creationId xmlns:a16="http://schemas.microsoft.com/office/drawing/2014/main" id="{962E4086-B3A9-DCA8-D2B3-59B9FB5216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4" name="Oval 19">
              <a:extLst>
                <a:ext uri="{FF2B5EF4-FFF2-40B4-BE49-F238E27FC236}">
                  <a16:creationId xmlns:a16="http://schemas.microsoft.com/office/drawing/2014/main" id="{661720F1-FCBF-A160-0E64-BB114B9CDF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5" name="Oval 20">
              <a:extLst>
                <a:ext uri="{FF2B5EF4-FFF2-40B4-BE49-F238E27FC236}">
                  <a16:creationId xmlns:a16="http://schemas.microsoft.com/office/drawing/2014/main" id="{27A5D772-4FC0-884C-062A-2A252C571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0" y="2243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6" name="Oval 21">
              <a:extLst>
                <a:ext uri="{FF2B5EF4-FFF2-40B4-BE49-F238E27FC236}">
                  <a16:creationId xmlns:a16="http://schemas.microsoft.com/office/drawing/2014/main" id="{4DBB2651-EC95-4A72-0BE4-0BC5F68437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421"/>
              <a:ext cx="127" cy="12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7" name="Oval 22">
              <a:extLst>
                <a:ext uri="{FF2B5EF4-FFF2-40B4-BE49-F238E27FC236}">
                  <a16:creationId xmlns:a16="http://schemas.microsoft.com/office/drawing/2014/main" id="{6150F9DA-2581-AD78-FB32-67D8A94E3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8" name="Oval 23">
              <a:extLst>
                <a:ext uri="{FF2B5EF4-FFF2-40B4-BE49-F238E27FC236}">
                  <a16:creationId xmlns:a16="http://schemas.microsoft.com/office/drawing/2014/main" id="{9F4331E9-FD68-71DB-A3EF-5529BBFF47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9" name="Oval 24">
              <a:extLst>
                <a:ext uri="{FF2B5EF4-FFF2-40B4-BE49-F238E27FC236}">
                  <a16:creationId xmlns:a16="http://schemas.microsoft.com/office/drawing/2014/main" id="{64DD9D21-3474-8901-2FAA-DF0EF753C1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421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0" name="Oval 25">
              <a:extLst>
                <a:ext uri="{FF2B5EF4-FFF2-40B4-BE49-F238E27FC236}">
                  <a16:creationId xmlns:a16="http://schemas.microsoft.com/office/drawing/2014/main" id="{B721B479-187A-0009-73CD-CE938B2C7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1" name="Oval 26">
              <a:extLst>
                <a:ext uri="{FF2B5EF4-FFF2-40B4-BE49-F238E27FC236}">
                  <a16:creationId xmlns:a16="http://schemas.microsoft.com/office/drawing/2014/main" id="{7138F5B0-FAEE-511A-F2E8-BC585BEF1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2" name="Oval 27">
              <a:extLst>
                <a:ext uri="{FF2B5EF4-FFF2-40B4-BE49-F238E27FC236}">
                  <a16:creationId xmlns:a16="http://schemas.microsoft.com/office/drawing/2014/main" id="{DD499045-94E8-65BB-61E8-83E43D8E9D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3" name="Oval 28">
              <a:extLst>
                <a:ext uri="{FF2B5EF4-FFF2-40B4-BE49-F238E27FC236}">
                  <a16:creationId xmlns:a16="http://schemas.microsoft.com/office/drawing/2014/main" id="{45214ECD-C1F4-2C36-9A61-1FFB84F468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4" name="Oval 29">
              <a:extLst>
                <a:ext uri="{FF2B5EF4-FFF2-40B4-BE49-F238E27FC236}">
                  <a16:creationId xmlns:a16="http://schemas.microsoft.com/office/drawing/2014/main" id="{B7EDB262-B3D0-6933-3427-9D226E7D37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0" y="2600"/>
              <a:ext cx="127" cy="128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5" name="Oval 30">
              <a:extLst>
                <a:ext uri="{FF2B5EF4-FFF2-40B4-BE49-F238E27FC236}">
                  <a16:creationId xmlns:a16="http://schemas.microsoft.com/office/drawing/2014/main" id="{B1A550AB-B56E-5E48-76C7-1BCE92F079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779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6" name="Oval 31">
              <a:extLst>
                <a:ext uri="{FF2B5EF4-FFF2-40B4-BE49-F238E27FC236}">
                  <a16:creationId xmlns:a16="http://schemas.microsoft.com/office/drawing/2014/main" id="{7C508CAB-A7EA-696E-3D6E-6FF81935BE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7" name="Oval 32">
              <a:extLst>
                <a:ext uri="{FF2B5EF4-FFF2-40B4-BE49-F238E27FC236}">
                  <a16:creationId xmlns:a16="http://schemas.microsoft.com/office/drawing/2014/main" id="{3AE837CF-B779-1272-7E88-14D3F24346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8" name="Oval 33">
              <a:extLst>
                <a:ext uri="{FF2B5EF4-FFF2-40B4-BE49-F238E27FC236}">
                  <a16:creationId xmlns:a16="http://schemas.microsoft.com/office/drawing/2014/main" id="{41B74B07-166D-484F-CF10-7C064F85A8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779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9" name="Oval 34">
              <a:extLst>
                <a:ext uri="{FF2B5EF4-FFF2-40B4-BE49-F238E27FC236}">
                  <a16:creationId xmlns:a16="http://schemas.microsoft.com/office/drawing/2014/main" id="{5A91F7DB-F884-13E8-B503-07FD5DB76B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0" name="Oval 35">
              <a:extLst>
                <a:ext uri="{FF2B5EF4-FFF2-40B4-BE49-F238E27FC236}">
                  <a16:creationId xmlns:a16="http://schemas.microsoft.com/office/drawing/2014/main" id="{BA139E26-CE22-DDDD-9CBE-DC4B7F5C1F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1" name="Oval 36">
              <a:extLst>
                <a:ext uri="{FF2B5EF4-FFF2-40B4-BE49-F238E27FC236}">
                  <a16:creationId xmlns:a16="http://schemas.microsoft.com/office/drawing/2014/main" id="{88654409-6438-8AE7-22AF-A6A1634AE4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2" name="Oval 37">
              <a:extLst>
                <a:ext uri="{FF2B5EF4-FFF2-40B4-BE49-F238E27FC236}">
                  <a16:creationId xmlns:a16="http://schemas.microsoft.com/office/drawing/2014/main" id="{391316D8-830E-6227-86BF-6861B2FC80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3" name="Oval 38">
              <a:extLst>
                <a:ext uri="{FF2B5EF4-FFF2-40B4-BE49-F238E27FC236}">
                  <a16:creationId xmlns:a16="http://schemas.microsoft.com/office/drawing/2014/main" id="{D842B922-8C1E-65C4-0FE8-DE7FA76AC9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4" name="Oval 39">
              <a:extLst>
                <a:ext uri="{FF2B5EF4-FFF2-40B4-BE49-F238E27FC236}">
                  <a16:creationId xmlns:a16="http://schemas.microsoft.com/office/drawing/2014/main" id="{EC317663-D79F-E95E-92C8-CCEA6781E1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</p:grpSp>
      <p:sp>
        <p:nvSpPr>
          <p:cNvPr id="35" name="Line 40">
            <a:extLst>
              <a:ext uri="{FF2B5EF4-FFF2-40B4-BE49-F238E27FC236}">
                <a16:creationId xmlns:a16="http://schemas.microsoft.com/office/drawing/2014/main" id="{F77EA722-2202-DBC6-E662-AF1F8C47002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2819400"/>
            <a:ext cx="82296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ES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315913" y="466725"/>
            <a:ext cx="6781800" cy="2133600"/>
          </a:xfrm>
        </p:spPr>
        <p:txBody>
          <a:bodyPr/>
          <a:lstStyle>
            <a:lvl1pPr algn="r">
              <a:defRPr sz="4800"/>
            </a:lvl1pPr>
          </a:lstStyle>
          <a:p>
            <a:r>
              <a:rPr lang="es-ES" altLang="en-US"/>
              <a:t>Haga clic para cambiar el estilo de título	</a:t>
            </a:r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849313" y="3049588"/>
            <a:ext cx="6248400" cy="2362200"/>
          </a:xfrm>
        </p:spPr>
        <p:txBody>
          <a:bodyPr/>
          <a:lstStyle>
            <a:lvl1pPr marL="0" indent="0" algn="r">
              <a:buFont typeface="Wingdings" pitchFamily="2" charset="2"/>
              <a:buNone/>
              <a:defRPr sz="3200"/>
            </a:lvl1pPr>
          </a:lstStyle>
          <a:p>
            <a:r>
              <a:rPr lang="es-ES" altLang="en-US"/>
              <a:t>Haga clic para modificar el estilo de subtítulo del patrón</a:t>
            </a:r>
          </a:p>
        </p:txBody>
      </p:sp>
      <p:sp>
        <p:nvSpPr>
          <p:cNvPr id="36" name="Rectangle 5">
            <a:extLst>
              <a:ext uri="{FF2B5EF4-FFF2-40B4-BE49-F238E27FC236}">
                <a16:creationId xmlns:a16="http://schemas.microsoft.com/office/drawing/2014/main" id="{13B03632-5819-2337-1DD2-7C37454BAE5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37" name="Rectangle 6">
            <a:extLst>
              <a:ext uri="{FF2B5EF4-FFF2-40B4-BE49-F238E27FC236}">
                <a16:creationId xmlns:a16="http://schemas.microsoft.com/office/drawing/2014/main" id="{AC2FE012-6623-B059-0707-9275E3F080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38" name="Rectangle 7">
            <a:extLst>
              <a:ext uri="{FF2B5EF4-FFF2-40B4-BE49-F238E27FC236}">
                <a16:creationId xmlns:a16="http://schemas.microsoft.com/office/drawing/2014/main" id="{1CD56C93-1EEB-B834-0503-18244BF7E11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CBD7BB4-175E-4EE2-A218-242D198CCC11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273038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8BCC39-1E39-CE8D-3DC1-9F8C844E265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B32E26B-5ACF-D916-2D71-E4B1981507A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59066E9-69A3-40ED-773B-F6079DD26C9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5AEB7A4-EDF6-4A4F-BE74-ED7701338D83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438465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9BC3340-B75C-1385-81BE-3DA33A7379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3D5DE63-8887-D924-3382-556B733AAD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2C99DD4D-7292-0156-50D8-31B5EFE4AF2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40DBBAB-A3F9-44BA-BCBA-AF04B1AAB080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097545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7B23311-1751-DA7C-9B81-CE5673E9306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2E428F5-92CA-03D3-FF0F-6CB776593F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00609F7E-DBCA-2069-FE29-BD208CFA9FC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64D0390-71C6-49F2-A88F-53F64A12B366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2395792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49C2378C-380C-A80B-8E7A-8FC3E3ECC7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06AF3E71-4FCB-ABE9-E825-10820BA5E1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5A3ED81E-C4E8-4415-7238-8092F95882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9BFE27E-9120-41A2-B29F-076EA5D41C71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496756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A989841-8797-02B7-116E-8B60BA346AA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53156B2-59E8-0F6F-13FC-37D1A448FBE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F770D35-722B-B95A-2450-554F18B759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4A77165-ADF5-4E0F-B138-DBE6B9CFB2E4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1924697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A3043114-68A1-3A66-BA8F-C396871B51F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175AED83-7041-024A-7C8C-405B793B399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2695DA5-03E3-2F6F-8158-376B6FB64CD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9D22349-CEE0-4999-80D8-60AFBCD0E2E4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5893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6734A58-2746-C729-F4C9-9EAC0A2CD5F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6218435-91BF-0DF9-7EC7-A39C801E131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39593020-294F-58EF-2A48-0B73EB94DB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43A2F2-82BF-4ACE-8073-4DBE8D1E5250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69502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A41A132-38BC-49D2-C9BA-CA0D114AF2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96F88BB-EC57-7517-A037-0C1CD9FDF61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D9B32228-1811-36C4-B77A-3F4E303FFBD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00AF-1AEE-48A0-94F9-E2D87474A3C3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595758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39D50BD-EB5C-2839-E2F9-557A24419B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DFDAD55-8978-2D91-ECEF-4800C9655C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D4B60E7-960F-74D0-2518-F947AC8432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5764C67-08AA-4CC8-A4D6-23E6AB0A0D48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16659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122238"/>
            <a:ext cx="2057400" cy="600868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122238"/>
            <a:ext cx="6019800" cy="600868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1218A0E-540E-B520-3625-8401C033202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BE13380-0987-5C60-1485-1DD5168AC66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50467BB-DDC6-522B-C058-31D074D54B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096484-0A2E-42DC-91FE-A343367B0417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4129325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2">
            <a:extLst>
              <a:ext uri="{FF2B5EF4-FFF2-40B4-BE49-F238E27FC236}">
                <a16:creationId xmlns:a16="http://schemas.microsoft.com/office/drawing/2014/main" id="{10AF1AEB-E3B1-742D-99EA-72A38BDCB244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2900" y="1524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ES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B501CD6-08B1-3312-ABEF-80C8ED89FB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122238"/>
            <a:ext cx="75438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Haga clic para cambiar el estilo de título	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DE92F04-1B0C-8AD4-63A0-9D4B9EB689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719263"/>
            <a:ext cx="8229600" cy="4411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Haga clic para modificar el estilo de texto del patrón</a:t>
            </a:r>
          </a:p>
          <a:p>
            <a:pPr lvl="1"/>
            <a:r>
              <a:rPr lang="es-ES" altLang="es-ES"/>
              <a:t>Segundo nivel</a:t>
            </a:r>
          </a:p>
          <a:p>
            <a:pPr lvl="2"/>
            <a:r>
              <a:rPr lang="es-ES" altLang="es-ES"/>
              <a:t>Tercer nivel</a:t>
            </a:r>
          </a:p>
          <a:p>
            <a:pPr lvl="3"/>
            <a:r>
              <a:rPr lang="es-ES" altLang="es-ES"/>
              <a:t>Cuarto nivel</a:t>
            </a:r>
          </a:p>
          <a:p>
            <a:pPr lvl="4"/>
            <a:r>
              <a:rPr lang="es-ES" altLang="es-ES"/>
              <a:t>Quinto nivel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3A66683B-ECFE-41F7-84B6-4341CEC25ECF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27F36D9C-D438-4B91-8ED8-FD55520AE6C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E5D46E6F-E9CA-4540-9492-9A5B30B419A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7B704FF9-3AAA-4F58-8EA6-9D130344D8AD}" type="slidenum">
              <a:rPr lang="es-ES" altLang="es-ES"/>
              <a:pPr/>
              <a:t>‹Nº›</a:t>
            </a:fld>
            <a:endParaRPr lang="es-ES" altLang="es-ES"/>
          </a:p>
        </p:txBody>
      </p:sp>
      <p:grpSp>
        <p:nvGrpSpPr>
          <p:cNvPr id="1032" name="Group 8">
            <a:extLst>
              <a:ext uri="{FF2B5EF4-FFF2-40B4-BE49-F238E27FC236}">
                <a16:creationId xmlns:a16="http://schemas.microsoft.com/office/drawing/2014/main" id="{95EA3E59-3082-09F2-32FF-09685522CFA2}"/>
              </a:ext>
            </a:extLst>
          </p:cNvPr>
          <p:cNvGrpSpPr>
            <a:grpSpLocks/>
          </p:cNvGrpSpPr>
          <p:nvPr/>
        </p:nvGrpSpPr>
        <p:grpSpPr bwMode="auto">
          <a:xfrm>
            <a:off x="8153400" y="152400"/>
            <a:ext cx="792163" cy="1295400"/>
            <a:chOff x="5136" y="960"/>
            <a:chExt cx="528" cy="864"/>
          </a:xfrm>
        </p:grpSpPr>
        <p:sp>
          <p:nvSpPr>
            <p:cNvPr id="1033" name="Oval 9">
              <a:extLst>
                <a:ext uri="{FF2B5EF4-FFF2-40B4-BE49-F238E27FC236}">
                  <a16:creationId xmlns:a16="http://schemas.microsoft.com/office/drawing/2014/main" id="{57909DE2-012D-44CB-8EF2-581E64F1F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4" name="Oval 10">
              <a:extLst>
                <a:ext uri="{FF2B5EF4-FFF2-40B4-BE49-F238E27FC236}">
                  <a16:creationId xmlns:a16="http://schemas.microsoft.com/office/drawing/2014/main" id="{325026E9-5E77-4FE4-9CFE-5C142B5A2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960"/>
              <a:ext cx="79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5" name="Oval 11">
              <a:extLst>
                <a:ext uri="{FF2B5EF4-FFF2-40B4-BE49-F238E27FC236}">
                  <a16:creationId xmlns:a16="http://schemas.microsoft.com/office/drawing/2014/main" id="{0F98A1EC-76E6-487D-AC3B-946CAD5368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960"/>
              <a:ext cx="76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6" name="Oval 12">
              <a:extLst>
                <a:ext uri="{FF2B5EF4-FFF2-40B4-BE49-F238E27FC236}">
                  <a16:creationId xmlns:a16="http://schemas.microsoft.com/office/drawing/2014/main" id="{2F04B2F9-7A74-4D96-91D6-6DA510E7AD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072"/>
              <a:ext cx="80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7" name="Oval 13">
              <a:extLst>
                <a:ext uri="{FF2B5EF4-FFF2-40B4-BE49-F238E27FC236}">
                  <a16:creationId xmlns:a16="http://schemas.microsoft.com/office/drawing/2014/main" id="{AB912BBA-9134-437A-AD08-A8F7A1F211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072"/>
              <a:ext cx="79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8" name="Oval 14">
              <a:extLst>
                <a:ext uri="{FF2B5EF4-FFF2-40B4-BE49-F238E27FC236}">
                  <a16:creationId xmlns:a16="http://schemas.microsoft.com/office/drawing/2014/main" id="{3DCEA755-BB80-49AB-9CF1-FB008DE0A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072"/>
              <a:ext cx="76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9" name="Oval 15">
              <a:extLst>
                <a:ext uri="{FF2B5EF4-FFF2-40B4-BE49-F238E27FC236}">
                  <a16:creationId xmlns:a16="http://schemas.microsoft.com/office/drawing/2014/main" id="{D6AF6C3D-B4B9-41A7-A696-12511A8FE6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072"/>
              <a:ext cx="73" cy="7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0" name="Oval 16">
              <a:extLst>
                <a:ext uri="{FF2B5EF4-FFF2-40B4-BE49-F238E27FC236}">
                  <a16:creationId xmlns:a16="http://schemas.microsoft.com/office/drawing/2014/main" id="{40A01C14-4CF1-4611-8607-F3C44CD425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184"/>
              <a:ext cx="80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1" name="Oval 17">
              <a:extLst>
                <a:ext uri="{FF2B5EF4-FFF2-40B4-BE49-F238E27FC236}">
                  <a16:creationId xmlns:a16="http://schemas.microsoft.com/office/drawing/2014/main" id="{22B9C2D7-18B4-49CD-88F0-C96839CFE4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184"/>
              <a:ext cx="79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2" name="Oval 18">
              <a:extLst>
                <a:ext uri="{FF2B5EF4-FFF2-40B4-BE49-F238E27FC236}">
                  <a16:creationId xmlns:a16="http://schemas.microsoft.com/office/drawing/2014/main" id="{1F8DDAC5-1B0C-4E3C-B8EA-74639AFA28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184"/>
              <a:ext cx="76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3" name="Oval 19">
              <a:extLst>
                <a:ext uri="{FF2B5EF4-FFF2-40B4-BE49-F238E27FC236}">
                  <a16:creationId xmlns:a16="http://schemas.microsoft.com/office/drawing/2014/main" id="{2A2C5E2F-ED92-47F0-BA8C-0779909251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184"/>
              <a:ext cx="73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4" name="Oval 20">
              <a:extLst>
                <a:ext uri="{FF2B5EF4-FFF2-40B4-BE49-F238E27FC236}">
                  <a16:creationId xmlns:a16="http://schemas.microsoft.com/office/drawing/2014/main" id="{05C53327-254F-4306-BC22-9E46F45C29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84" y="1184"/>
              <a:ext cx="80" cy="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5" name="Oval 21">
              <a:extLst>
                <a:ext uri="{FF2B5EF4-FFF2-40B4-BE49-F238E27FC236}">
                  <a16:creationId xmlns:a16="http://schemas.microsoft.com/office/drawing/2014/main" id="{3CDDF147-CBFB-4236-BAF1-D9E9F4C591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6" name="Oval 22">
              <a:extLst>
                <a:ext uri="{FF2B5EF4-FFF2-40B4-BE49-F238E27FC236}">
                  <a16:creationId xmlns:a16="http://schemas.microsoft.com/office/drawing/2014/main" id="{6108AE6E-AD95-4071-B449-1334E0CA5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296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7" name="Oval 23">
              <a:extLst>
                <a:ext uri="{FF2B5EF4-FFF2-40B4-BE49-F238E27FC236}">
                  <a16:creationId xmlns:a16="http://schemas.microsoft.com/office/drawing/2014/main" id="{FF075726-E8EF-458F-BB54-C0EBB8229A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296"/>
              <a:ext cx="76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8" name="Oval 24">
              <a:extLst>
                <a:ext uri="{FF2B5EF4-FFF2-40B4-BE49-F238E27FC236}">
                  <a16:creationId xmlns:a16="http://schemas.microsoft.com/office/drawing/2014/main" id="{4F8844B1-A6C6-4DCC-B4E3-A5DBF2398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296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9" name="Oval 25">
              <a:extLst>
                <a:ext uri="{FF2B5EF4-FFF2-40B4-BE49-F238E27FC236}">
                  <a16:creationId xmlns:a16="http://schemas.microsoft.com/office/drawing/2014/main" id="{990E9EB1-E7DB-422D-8F83-B0884FA3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0" name="Oval 26">
              <a:extLst>
                <a:ext uri="{FF2B5EF4-FFF2-40B4-BE49-F238E27FC236}">
                  <a16:creationId xmlns:a16="http://schemas.microsoft.com/office/drawing/2014/main" id="{3DAD365C-71F3-4CC2-B694-39113F878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408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1" name="Oval 27">
              <a:extLst>
                <a:ext uri="{FF2B5EF4-FFF2-40B4-BE49-F238E27FC236}">
                  <a16:creationId xmlns:a16="http://schemas.microsoft.com/office/drawing/2014/main" id="{22718FC1-37AE-4BB8-811A-F6E98FFAF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408"/>
              <a:ext cx="76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2" name="Oval 28">
              <a:extLst>
                <a:ext uri="{FF2B5EF4-FFF2-40B4-BE49-F238E27FC236}">
                  <a16:creationId xmlns:a16="http://schemas.microsoft.com/office/drawing/2014/main" id="{F5BE8BAD-A4FE-46E8-86E9-EBBCA61A04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408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3" name="Oval 29">
              <a:extLst>
                <a:ext uri="{FF2B5EF4-FFF2-40B4-BE49-F238E27FC236}">
                  <a16:creationId xmlns:a16="http://schemas.microsoft.com/office/drawing/2014/main" id="{1E9773A2-2AD7-4F12-B0B2-64FB9EB972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4" name="Oval 30">
              <a:extLst>
                <a:ext uri="{FF2B5EF4-FFF2-40B4-BE49-F238E27FC236}">
                  <a16:creationId xmlns:a16="http://schemas.microsoft.com/office/drawing/2014/main" id="{E7BCA126-5A74-4201-9CF5-287BE1C591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520"/>
              <a:ext cx="80" cy="7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5" name="Oval 31">
              <a:extLst>
                <a:ext uri="{FF2B5EF4-FFF2-40B4-BE49-F238E27FC236}">
                  <a16:creationId xmlns:a16="http://schemas.microsoft.com/office/drawing/2014/main" id="{EC2692A3-CC8A-40DF-903A-366FE10ED2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520"/>
              <a:ext cx="79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6" name="Oval 32">
              <a:extLst>
                <a:ext uri="{FF2B5EF4-FFF2-40B4-BE49-F238E27FC236}">
                  <a16:creationId xmlns:a16="http://schemas.microsoft.com/office/drawing/2014/main" id="{BC7C50B6-D1EC-44FC-9D75-87EC9F800A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520"/>
              <a:ext cx="76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7" name="Oval 33">
              <a:extLst>
                <a:ext uri="{FF2B5EF4-FFF2-40B4-BE49-F238E27FC236}">
                  <a16:creationId xmlns:a16="http://schemas.microsoft.com/office/drawing/2014/main" id="{70905121-26A2-4184-B9F8-891A7FB71C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520"/>
              <a:ext cx="73" cy="79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8" name="Oval 34">
              <a:extLst>
                <a:ext uri="{FF2B5EF4-FFF2-40B4-BE49-F238E27FC236}">
                  <a16:creationId xmlns:a16="http://schemas.microsoft.com/office/drawing/2014/main" id="{E9B57D45-95A0-4BB3-BDFD-278B549C5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632"/>
              <a:ext cx="80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9" name="Oval 35">
              <a:extLst>
                <a:ext uri="{FF2B5EF4-FFF2-40B4-BE49-F238E27FC236}">
                  <a16:creationId xmlns:a16="http://schemas.microsoft.com/office/drawing/2014/main" id="{A0EC91B3-2742-4D54-ABBA-9E20D8F8E2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632"/>
              <a:ext cx="79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0" name="Oval 36">
              <a:extLst>
                <a:ext uri="{FF2B5EF4-FFF2-40B4-BE49-F238E27FC236}">
                  <a16:creationId xmlns:a16="http://schemas.microsoft.com/office/drawing/2014/main" id="{56177C68-39D8-439F-9185-4A2359DF96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632"/>
              <a:ext cx="76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1" name="Oval 37">
              <a:extLst>
                <a:ext uri="{FF2B5EF4-FFF2-40B4-BE49-F238E27FC236}">
                  <a16:creationId xmlns:a16="http://schemas.microsoft.com/office/drawing/2014/main" id="{6C51C807-EC9E-41A8-AAA7-A672C685B5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632"/>
              <a:ext cx="73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2" name="Oval 38">
              <a:extLst>
                <a:ext uri="{FF2B5EF4-FFF2-40B4-BE49-F238E27FC236}">
                  <a16:creationId xmlns:a16="http://schemas.microsoft.com/office/drawing/2014/main" id="{646DBBF4-45B0-45B9-AE1D-2410B17864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744"/>
              <a:ext cx="79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3" name="Oval 39">
              <a:extLst>
                <a:ext uri="{FF2B5EF4-FFF2-40B4-BE49-F238E27FC236}">
                  <a16:creationId xmlns:a16="http://schemas.microsoft.com/office/drawing/2014/main" id="{CEC0B8E6-4E00-47F3-A94D-A072879A85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744"/>
              <a:ext cx="73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4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+mj-lt"/>
          <a:ea typeface="ＭＳ Ｐゴシック" charset="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anose="05000000000000000000" pitchFamily="2" charset="2"/>
        <a:buChar char="l"/>
        <a:defRPr sz="3000">
          <a:solidFill>
            <a:schemeClr val="tx1"/>
          </a:solidFill>
          <a:latin typeface="+mn-lt"/>
          <a:ea typeface="ＭＳ Ｐゴシック" charset="0"/>
          <a:cs typeface="+mn-cs"/>
        </a:defRPr>
      </a:lvl1pPr>
      <a:lvl2pPr marL="692150" indent="-3476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l"/>
        <a:defRPr sz="2600">
          <a:solidFill>
            <a:schemeClr val="tx1"/>
          </a:solidFill>
          <a:latin typeface="+mn-lt"/>
          <a:ea typeface="ＭＳ Ｐゴシック" charset="0"/>
        </a:defRPr>
      </a:lvl2pPr>
      <a:lvl3pPr marL="987425" indent="-29368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anose="05000000000000000000" pitchFamily="2" charset="2"/>
        <a:buChar char="l"/>
        <a:defRPr sz="2300">
          <a:solidFill>
            <a:schemeClr val="tx1"/>
          </a:solidFill>
          <a:latin typeface="+mn-lt"/>
          <a:ea typeface="ＭＳ Ｐゴシック" charset="0"/>
        </a:defRPr>
      </a:lvl3pPr>
      <a:lvl4pPr marL="1281113" indent="-2921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1598613" indent="-315913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0558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130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29702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4274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youtube.com/watch?v=ENhbAuOTt7A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9E0DCBED-6B89-F428-EC3C-0F4F7F949B6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s-ES" altLang="es-ES" sz="4400">
                <a:ea typeface="ＭＳ Ｐゴシック" panose="020B0600070205080204" pitchFamily="34" charset="-128"/>
              </a:rPr>
              <a:t>ALGORITMOS Y ESTRUCTURAS DE DATOS 1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60E2D8EA-C62F-7877-5E88-FD35911BD10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s-ES" altLang="es-ES" b="1">
                <a:ea typeface="ＭＳ Ｐゴシック" panose="020B0600070205080204" pitchFamily="34" charset="-128"/>
              </a:rPr>
              <a:t>Práctica: CUACKER</a:t>
            </a:r>
          </a:p>
          <a:p>
            <a:pPr eaLnBrk="1" hangingPunct="1"/>
            <a:r>
              <a:rPr lang="es-ES" altLang="es-ES" b="1">
                <a:ea typeface="ＭＳ Ｐゴシック" panose="020B0600070205080204" pitchFamily="34" charset="-128"/>
              </a:rPr>
              <a:t>Sesión 3</a:t>
            </a:r>
          </a:p>
          <a:p>
            <a:pPr eaLnBrk="1" hangingPunct="1"/>
            <a:endParaRPr lang="es-ES" altLang="es-ES" sz="2400">
              <a:ea typeface="ＭＳ Ｐゴシック" panose="020B0600070205080204" pitchFamily="34" charset="-128"/>
            </a:endParaRPr>
          </a:p>
        </p:txBody>
      </p:sp>
      <p:pic>
        <p:nvPicPr>
          <p:cNvPr id="4100" name="Imagen 2">
            <a:extLst>
              <a:ext uri="{FF2B5EF4-FFF2-40B4-BE49-F238E27FC236}">
                <a16:creationId xmlns:a16="http://schemas.microsoft.com/office/drawing/2014/main" id="{0773C076-BE29-661F-5786-877ACC2EA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687763"/>
            <a:ext cx="1457325" cy="1366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5 Marcador de número de diapositiva">
            <a:extLst>
              <a:ext uri="{FF2B5EF4-FFF2-40B4-BE49-F238E27FC236}">
                <a16:creationId xmlns:a16="http://schemas.microsoft.com/office/drawing/2014/main" id="{45EE1CBD-E8BE-AE23-789F-C3179989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258FE276-F230-45DB-95C8-87EC1C9870AA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s-ES" altLang="es-ES" sz="1000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81881A14-5600-9D25-E3BC-BD17603B79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8683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Programación modular</a:t>
            </a: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172C11B0-0922-B618-5D0D-7769A0AEF2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990600"/>
            <a:ext cx="8610600" cy="5562600"/>
          </a:xfrm>
        </p:spPr>
        <p:txBody>
          <a:bodyPr/>
          <a:lstStyle/>
          <a:p>
            <a:pPr marL="0" indent="0" algn="ctr" eaLnBrk="1" hangingPunct="1">
              <a:buFont typeface="Wingdings" panose="05000000000000000000" pitchFamily="2" charset="2"/>
              <a:buNone/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Videotutorial 7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Cuando el programa crece mucho, es necesario descomponerlo en partes: </a:t>
            </a:r>
            <a:r>
              <a:rPr lang="es-ES" altLang="es-ES" b="1" dirty="0">
                <a:ea typeface="ＭＳ Ｐゴシック" panose="020B0600070205080204" pitchFamily="34" charset="-128"/>
              </a:rPr>
              <a:t>módulos</a:t>
            </a:r>
            <a:r>
              <a:rPr lang="es-ES" altLang="es-ES" dirty="0">
                <a:ea typeface="ＭＳ Ｐゴシック" panose="020B0600070205080204" pitchFamily="34" charset="-128"/>
              </a:rPr>
              <a:t>.</a:t>
            </a:r>
          </a:p>
          <a:p>
            <a:pPr lvl="1"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Descomposición modular del programa.</a:t>
            </a:r>
          </a:p>
          <a:p>
            <a:pPr lvl="1"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Ficheros de cabecera y de implementación.</a:t>
            </a:r>
          </a:p>
          <a:p>
            <a:pPr lvl="1"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Compilación separada.</a:t>
            </a:r>
          </a:p>
          <a:p>
            <a:pPr lvl="1"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Compilación con </a:t>
            </a:r>
            <a:r>
              <a:rPr lang="es-ES" altLang="es-ES" dirty="0" err="1">
                <a:ea typeface="ＭＳ Ｐゴシック" panose="020B0600070205080204" pitchFamily="34" charset="-128"/>
              </a:rPr>
              <a:t>make</a:t>
            </a:r>
            <a:r>
              <a:rPr lang="es-ES" altLang="es-ES" dirty="0">
                <a:ea typeface="ＭＳ Ｐゴシック" panose="020B0600070205080204" pitchFamily="34" charset="-128"/>
              </a:rPr>
              <a:t>.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Descomposición modular: agrupar funciones relacionadas.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Reparto equilibrado y lógico. Los módulos no deben ser ni muy pequeños, ni muy grandes.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5 Marcador de número de diapositiva">
            <a:extLst>
              <a:ext uri="{FF2B5EF4-FFF2-40B4-BE49-F238E27FC236}">
                <a16:creationId xmlns:a16="http://schemas.microsoft.com/office/drawing/2014/main" id="{2AE97130-6EC6-EDCF-F8E6-46E8DCD5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B75E053-B2F4-4168-AE11-BBB3F198142A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s-ES" altLang="es-ES" sz="10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85F6D49E-8536-2C5E-C290-441DF27140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159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Programación modular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61A3A754-0C15-2D89-BB45-AF943218C55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838200"/>
            <a:ext cx="8763000" cy="1985963"/>
          </a:xfrm>
        </p:spPr>
        <p:txBody>
          <a:bodyPr/>
          <a:lstStyle/>
          <a:p>
            <a:pPr eaLnBrk="1" hangingPunct="1"/>
            <a:r>
              <a:rPr lang="es-ES" altLang="es-ES" sz="2800" dirty="0">
                <a:ea typeface="ＭＳ Ｐゴシック" panose="020B0600070205080204" pitchFamily="34" charset="-128"/>
              </a:rPr>
              <a:t>Para cada módulo, tendremos dos ficheros: de cabecera (.h o .</a:t>
            </a:r>
            <a:r>
              <a:rPr lang="es-ES" altLang="es-ES" sz="2800" dirty="0" err="1">
                <a:ea typeface="ＭＳ Ｐゴシック" panose="020B0600070205080204" pitchFamily="34" charset="-128"/>
              </a:rPr>
              <a:t>hpp</a:t>
            </a:r>
            <a:r>
              <a:rPr lang="es-ES" altLang="es-ES" sz="2800" dirty="0">
                <a:ea typeface="ＭＳ Ｐゴシック" panose="020B0600070205080204" pitchFamily="34" charset="-128"/>
              </a:rPr>
              <a:t>) y de implementación (.</a:t>
            </a:r>
            <a:r>
              <a:rPr lang="es-ES" altLang="es-ES" sz="2800" dirty="0" err="1">
                <a:ea typeface="ＭＳ Ｐゴシック" panose="020B0600070205080204" pitchFamily="34" charset="-128"/>
              </a:rPr>
              <a:t>cpp</a:t>
            </a:r>
            <a:r>
              <a:rPr lang="es-ES" altLang="es-ES" sz="2800" dirty="0">
                <a:ea typeface="ＭＳ Ｐゴシック" panose="020B0600070205080204" pitchFamily="34" charset="-128"/>
              </a:rPr>
              <a:t>)</a:t>
            </a:r>
          </a:p>
          <a:p>
            <a:pPr lvl="1" eaLnBrk="1" hangingPunct="1"/>
            <a:r>
              <a:rPr lang="es-ES" altLang="es-ES" sz="2400" b="1" dirty="0">
                <a:ea typeface="ＭＳ Ｐゴシック" panose="020B0600070205080204" pitchFamily="34" charset="-128"/>
              </a:rPr>
              <a:t>Fichero de cabecera</a:t>
            </a:r>
            <a:r>
              <a:rPr lang="es-ES" altLang="es-ES" sz="2400" dirty="0">
                <a:ea typeface="ＭＳ Ｐゴシック" panose="020B0600070205080204" pitchFamily="34" charset="-128"/>
              </a:rPr>
              <a:t>: la parte pública, el interfaz.</a:t>
            </a:r>
          </a:p>
          <a:p>
            <a:pPr lvl="1" eaLnBrk="1" hangingPunct="1"/>
            <a:r>
              <a:rPr lang="es-ES" altLang="es-ES" sz="2400" b="1" dirty="0">
                <a:ea typeface="ＭＳ Ｐゴシック" panose="020B0600070205080204" pitchFamily="34" charset="-128"/>
              </a:rPr>
              <a:t>Fichero de implementación</a:t>
            </a:r>
            <a:r>
              <a:rPr lang="es-ES" altLang="es-ES" sz="2400" dirty="0">
                <a:ea typeface="ＭＳ Ｐゴシック" panose="020B0600070205080204" pitchFamily="34" charset="-128"/>
              </a:rPr>
              <a:t>: código de las operaciones.</a:t>
            </a:r>
          </a:p>
        </p:txBody>
      </p:sp>
      <p:sp>
        <p:nvSpPr>
          <p:cNvPr id="6149" name="1 Rectángulo">
            <a:extLst>
              <a:ext uri="{FF2B5EF4-FFF2-40B4-BE49-F238E27FC236}">
                <a16:creationId xmlns:a16="http://schemas.microsoft.com/office/drawing/2014/main" id="{6A8BF399-4112-F485-E571-4EFB6175DF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192463"/>
            <a:ext cx="3352800" cy="34163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// Modulo uno //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#ifndef _MODULO_UNO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#define _MODULO_UNO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void funcion ();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extern int errorCode;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class Persona {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  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};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#endif</a:t>
            </a:r>
          </a:p>
        </p:txBody>
      </p:sp>
      <p:sp>
        <p:nvSpPr>
          <p:cNvPr id="6150" name="5 Rectángulo">
            <a:extLst>
              <a:ext uri="{FF2B5EF4-FFF2-40B4-BE49-F238E27FC236}">
                <a16:creationId xmlns:a16="http://schemas.microsoft.com/office/drawing/2014/main" id="{B59F21B4-39E5-3BA3-0139-3F988A286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3330575"/>
            <a:ext cx="3962400" cy="31400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#include "modulo.h"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void funcion() {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  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}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int errorCode= 0;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void Persona::escribir() {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  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}</a:t>
            </a:r>
          </a:p>
        </p:txBody>
      </p:sp>
      <p:sp>
        <p:nvSpPr>
          <p:cNvPr id="7" name="6 Rectángulo">
            <a:extLst>
              <a:ext uri="{FF2B5EF4-FFF2-40B4-BE49-F238E27FC236}">
                <a16:creationId xmlns:a16="http://schemas.microsoft.com/office/drawing/2014/main" id="{70A1C2C7-97FF-7B6C-1CE2-305E87AA776C}"/>
              </a:ext>
            </a:extLst>
          </p:cNvPr>
          <p:cNvSpPr/>
          <p:nvPr/>
        </p:nvSpPr>
        <p:spPr>
          <a:xfrm>
            <a:off x="1447800" y="2824163"/>
            <a:ext cx="1905000" cy="3683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marL="95250" lvl="2" algn="ctr" eaLnBrk="1" hangingPunct="1">
              <a:defRPr/>
            </a:pPr>
            <a:r>
              <a:rPr lang="es-ES" altLang="es-ES" b="1" dirty="0" err="1">
                <a:latin typeface="+mj-lt"/>
              </a:rPr>
              <a:t>modulo.h</a:t>
            </a:r>
            <a:endParaRPr lang="es-ES" altLang="es-ES" b="1" dirty="0">
              <a:latin typeface="+mj-lt"/>
            </a:endParaRPr>
          </a:p>
        </p:txBody>
      </p:sp>
      <p:sp>
        <p:nvSpPr>
          <p:cNvPr id="8" name="7 Rectángulo">
            <a:extLst>
              <a:ext uri="{FF2B5EF4-FFF2-40B4-BE49-F238E27FC236}">
                <a16:creationId xmlns:a16="http://schemas.microsoft.com/office/drawing/2014/main" id="{B2D3338B-A1E5-0378-426E-6220EBCAB945}"/>
              </a:ext>
            </a:extLst>
          </p:cNvPr>
          <p:cNvSpPr/>
          <p:nvPr/>
        </p:nvSpPr>
        <p:spPr>
          <a:xfrm>
            <a:off x="5448300" y="2970213"/>
            <a:ext cx="1905000" cy="3683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marL="95250" lvl="2" algn="ctr" eaLnBrk="1" hangingPunct="1">
              <a:defRPr/>
            </a:pPr>
            <a:r>
              <a:rPr lang="es-ES" altLang="es-ES" b="1" dirty="0">
                <a:latin typeface="+mj-lt"/>
              </a:rPr>
              <a:t>modulo.cpp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5 Marcador de número de diapositiva">
            <a:extLst>
              <a:ext uri="{FF2B5EF4-FFF2-40B4-BE49-F238E27FC236}">
                <a16:creationId xmlns:a16="http://schemas.microsoft.com/office/drawing/2014/main" id="{E7BDF86A-C517-7407-6EB8-369320928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9C8F2C7-8A6E-4E5F-8583-C04C2093C8F3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s-ES" altLang="es-ES" sz="1000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7E33C478-F1F1-75B3-E8D5-F0BDBA0589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81000" y="228600"/>
            <a:ext cx="7543800" cy="715963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Programación modular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BE81B3A4-2C3E-C7D2-ECDC-BC6E4F33DAE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8600" y="1066800"/>
            <a:ext cx="8763000" cy="5486400"/>
          </a:xfrm>
        </p:spPr>
        <p:txBody>
          <a:bodyPr/>
          <a:lstStyle/>
          <a:p>
            <a:pPr eaLnBrk="1" hangingPunct="1"/>
            <a:r>
              <a:rPr lang="es-ES" altLang="es-ES" sz="2800" dirty="0">
                <a:ea typeface="ＭＳ Ｐゴシック" panose="020B0600070205080204" pitchFamily="34" charset="-128"/>
              </a:rPr>
              <a:t>¿Qué contiene el fichero de cabecera?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Directivas de </a:t>
            </a:r>
            <a:r>
              <a:rPr lang="es-ES" altLang="es-ES" sz="2400" b="1" dirty="0">
                <a:ea typeface="ＭＳ Ｐゴシック" panose="020B0600070205080204" pitchFamily="34" charset="-128"/>
              </a:rPr>
              <a:t>compilación condicional</a:t>
            </a:r>
            <a:r>
              <a:rPr lang="es-ES" altLang="es-ES" sz="2400" dirty="0">
                <a:ea typeface="ＭＳ Ｐゴシック" panose="020B0600070205080204" pitchFamily="34" charset="-128"/>
              </a:rPr>
              <a:t>: #ifndef ... #endif para evitar inclusiones recursivas o repetidas.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Declaración de las </a:t>
            </a:r>
            <a:r>
              <a:rPr lang="es-ES" altLang="es-ES" sz="2400" b="1" dirty="0">
                <a:ea typeface="ＭＳ Ｐゴシック" panose="020B0600070205080204" pitchFamily="34" charset="-128"/>
              </a:rPr>
              <a:t>funciones</a:t>
            </a:r>
            <a:br>
              <a:rPr lang="es-ES" altLang="es-ES" sz="2400" b="1" dirty="0">
                <a:ea typeface="ＭＳ Ｐゴシック" panose="020B0600070205080204" pitchFamily="34" charset="-128"/>
              </a:rPr>
            </a:br>
            <a:r>
              <a:rPr lang="es-ES" altLang="es-ES" sz="2400" b="1" dirty="0">
                <a:ea typeface="ＭＳ Ｐゴシック" panose="020B0600070205080204" pitchFamily="34" charset="-128"/>
              </a:rPr>
              <a:t>públicas</a:t>
            </a:r>
            <a:r>
              <a:rPr lang="es-ES" altLang="es-ES" sz="2400" dirty="0">
                <a:ea typeface="ＭＳ Ｐゴシック" panose="020B0600070205080204" pitchFamily="34" charset="-128"/>
              </a:rPr>
              <a:t>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Declaración </a:t>
            </a:r>
            <a:r>
              <a:rPr lang="es-ES" altLang="es-ES" sz="2400" b="1" dirty="0" err="1">
                <a:ea typeface="ＭＳ Ｐゴシック" panose="020B0600070205080204" pitchFamily="34" charset="-128"/>
              </a:rPr>
              <a:t>extern</a:t>
            </a:r>
            <a:r>
              <a:rPr lang="es-ES" altLang="es-ES" sz="2400" dirty="0">
                <a:ea typeface="ＭＳ Ｐゴシック" panose="020B0600070205080204" pitchFamily="34" charset="-128"/>
              </a:rPr>
              <a:t> de las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posibles variables públicas.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Declaración de los </a:t>
            </a:r>
            <a:r>
              <a:rPr lang="es-ES" altLang="es-ES" sz="2400" b="1" dirty="0">
                <a:ea typeface="ＭＳ Ｐゴシック" panose="020B0600070205080204" pitchFamily="34" charset="-128"/>
              </a:rPr>
              <a:t>tipos de</a:t>
            </a:r>
            <a:br>
              <a:rPr lang="es-ES" altLang="es-ES" sz="2400" b="1" dirty="0">
                <a:ea typeface="ＭＳ Ｐゴシック" panose="020B0600070205080204" pitchFamily="34" charset="-128"/>
              </a:rPr>
            </a:br>
            <a:r>
              <a:rPr lang="es-ES" altLang="es-ES" sz="2400" b="1" dirty="0">
                <a:ea typeface="ＭＳ Ｐゴシック" panose="020B0600070205080204" pitchFamily="34" charset="-128"/>
              </a:rPr>
              <a:t>datos</a:t>
            </a:r>
            <a:r>
              <a:rPr lang="es-ES" altLang="es-ES" sz="2400" dirty="0">
                <a:ea typeface="ＭＳ Ｐゴシック" panose="020B0600070205080204" pitchFamily="34" charset="-128"/>
              </a:rPr>
              <a:t>, por ejemplo, enumerados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o clases.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También puede tener </a:t>
            </a:r>
            <a:r>
              <a:rPr lang="es-ES" altLang="es-ES" sz="2400" b="1" dirty="0">
                <a:ea typeface="ＭＳ Ｐゴシック" panose="020B0600070205080204" pitchFamily="34" charset="-128"/>
              </a:rPr>
              <a:t>#includes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de otros módulos que requieran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los usuarios del presente módulo.</a:t>
            </a:r>
          </a:p>
        </p:txBody>
      </p:sp>
      <p:sp>
        <p:nvSpPr>
          <p:cNvPr id="7173" name="1 Rectángulo">
            <a:extLst>
              <a:ext uri="{FF2B5EF4-FFF2-40B4-BE49-F238E27FC236}">
                <a16:creationId xmlns:a16="http://schemas.microsoft.com/office/drawing/2014/main" id="{D4BE8C82-2D9D-448F-2836-16B1F5EB0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806700"/>
            <a:ext cx="3352800" cy="34163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// Modulo uno //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#ifndef _MODULO_UNO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#define _MODULO_UNO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void funcion ();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extern int errorCode;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class Persona {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  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};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#endif</a:t>
            </a:r>
          </a:p>
        </p:txBody>
      </p:sp>
      <p:sp>
        <p:nvSpPr>
          <p:cNvPr id="7" name="6 Rectángulo">
            <a:extLst>
              <a:ext uri="{FF2B5EF4-FFF2-40B4-BE49-F238E27FC236}">
                <a16:creationId xmlns:a16="http://schemas.microsoft.com/office/drawing/2014/main" id="{6E9FE488-B3C7-1831-39F5-CFCF92A279D1}"/>
              </a:ext>
            </a:extLst>
          </p:cNvPr>
          <p:cNvSpPr/>
          <p:nvPr/>
        </p:nvSpPr>
        <p:spPr>
          <a:xfrm>
            <a:off x="6248400" y="2438400"/>
            <a:ext cx="1905000" cy="3683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marL="95250" lvl="2" algn="ctr" eaLnBrk="1" hangingPunct="1">
              <a:defRPr/>
            </a:pPr>
            <a:r>
              <a:rPr lang="es-ES" altLang="es-ES" b="1" dirty="0" err="1">
                <a:latin typeface="+mj-lt"/>
              </a:rPr>
              <a:t>modulo.h</a:t>
            </a:r>
            <a:endParaRPr lang="es-ES" altLang="es-ES" b="1" dirty="0">
              <a:latin typeface="+mj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5 Marcador de número de diapositiva">
            <a:extLst>
              <a:ext uri="{FF2B5EF4-FFF2-40B4-BE49-F238E27FC236}">
                <a16:creationId xmlns:a16="http://schemas.microsoft.com/office/drawing/2014/main" id="{CF057A24-2682-E0D6-16DD-B947ED3C6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4B465F9B-D55E-41BC-8E9A-BB130CA0E86B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s-ES" altLang="es-ES" sz="1000"/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32F79B71-CA22-A64A-78B5-9EFC4D637C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81000" y="228600"/>
            <a:ext cx="7543800" cy="715963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Programación modular</a:t>
            </a:r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95CA2A54-5717-F7DB-78C7-56B3FB4E84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8600" y="914400"/>
            <a:ext cx="8763000" cy="5715000"/>
          </a:xfrm>
        </p:spPr>
        <p:txBody>
          <a:bodyPr/>
          <a:lstStyle/>
          <a:p>
            <a:pPr eaLnBrk="1" hangingPunct="1"/>
            <a:r>
              <a:rPr lang="es-ES" altLang="es-ES" sz="2800" dirty="0">
                <a:ea typeface="ＭＳ Ｐゴシック" panose="020B0600070205080204" pitchFamily="34" charset="-128"/>
              </a:rPr>
              <a:t>¿Qué contiene el fichero de implementación?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Normalmente empezará con un </a:t>
            </a:r>
            <a:r>
              <a:rPr lang="es-ES" altLang="es-ES" sz="2400" b="1" dirty="0">
                <a:ea typeface="ＭＳ Ｐゴシック" panose="020B0600070205080204" pitchFamily="34" charset="-128"/>
              </a:rPr>
              <a:t>#include</a:t>
            </a:r>
            <a:r>
              <a:rPr lang="es-ES" altLang="es-ES" sz="2400" dirty="0">
                <a:ea typeface="ＭＳ Ｐゴシック" panose="020B0600070205080204" pitchFamily="34" charset="-128"/>
              </a:rPr>
              <a:t> de su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propio fichero de cabera. Pueden incluirse otros módulos, si son necesarios.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Definición de las </a:t>
            </a:r>
            <a:r>
              <a:rPr lang="es-ES" altLang="es-ES" sz="2400" b="1" dirty="0">
                <a:ea typeface="ＭＳ Ｐゴシック" panose="020B0600070205080204" pitchFamily="34" charset="-128"/>
              </a:rPr>
              <a:t>variables</a:t>
            </a:r>
            <a:br>
              <a:rPr lang="es-ES" altLang="es-ES" sz="2400" b="1" dirty="0">
                <a:ea typeface="ＭＳ Ｐゴシック" panose="020B0600070205080204" pitchFamily="34" charset="-128"/>
              </a:rPr>
            </a:br>
            <a:r>
              <a:rPr lang="es-ES" altLang="es-ES" sz="2400" b="1" dirty="0">
                <a:ea typeface="ＭＳ Ｐゴシック" panose="020B0600070205080204" pitchFamily="34" charset="-128"/>
              </a:rPr>
              <a:t>públicas</a:t>
            </a:r>
            <a:r>
              <a:rPr lang="es-ES" altLang="es-ES" sz="2400" dirty="0">
                <a:ea typeface="ＭＳ Ｐゴシック" panose="020B0600070205080204" pitchFamily="34" charset="-128"/>
              </a:rPr>
              <a:t> declaradas </a:t>
            </a:r>
            <a:r>
              <a:rPr lang="es-ES" altLang="es-ES" sz="2400" dirty="0" err="1">
                <a:ea typeface="ＭＳ Ｐゴシック" panose="020B0600070205080204" pitchFamily="34" charset="-128"/>
              </a:rPr>
              <a:t>extern</a:t>
            </a:r>
            <a:r>
              <a:rPr lang="es-ES" altLang="es-ES" sz="2400" dirty="0">
                <a:ea typeface="ＭＳ Ｐゴシック" panose="020B0600070205080204" pitchFamily="34" charset="-128"/>
              </a:rPr>
              <a:t>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Implementación de las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b="1" dirty="0">
                <a:ea typeface="ＭＳ Ｐゴシック" panose="020B0600070205080204" pitchFamily="34" charset="-128"/>
              </a:rPr>
              <a:t>funciones públicas</a:t>
            </a:r>
            <a:r>
              <a:rPr lang="es-ES" altLang="es-ES" sz="2400" dirty="0">
                <a:ea typeface="ＭＳ Ｐゴシック" panose="020B0600070205080204" pitchFamily="34" charset="-128"/>
              </a:rPr>
              <a:t>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Implementación de los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b="1" dirty="0">
                <a:ea typeface="ＭＳ Ｐゴシック" panose="020B0600070205080204" pitchFamily="34" charset="-128"/>
              </a:rPr>
              <a:t>métodos de las clases</a:t>
            </a:r>
            <a:r>
              <a:rPr lang="es-ES" altLang="es-ES" sz="2400" dirty="0">
                <a:ea typeface="ＭＳ Ｐゴシック" panose="020B0600070205080204" pitchFamily="34" charset="-128"/>
              </a:rPr>
              <a:t>, con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clase::</a:t>
            </a:r>
            <a:r>
              <a:rPr lang="es-ES" altLang="es-ES" sz="2400" dirty="0" err="1">
                <a:ea typeface="ＭＳ Ｐゴシック" panose="020B0600070205080204" pitchFamily="34" charset="-128"/>
              </a:rPr>
              <a:t>metodo</a:t>
            </a:r>
            <a:r>
              <a:rPr lang="es-ES" altLang="es-ES" sz="2400" dirty="0">
                <a:ea typeface="ＭＳ Ｐゴシック" panose="020B0600070205080204" pitchFamily="34" charset="-128"/>
              </a:rPr>
              <a:t>.</a:t>
            </a:r>
          </a:p>
          <a:p>
            <a:pPr lvl="1" eaLnBrk="1" hangingPunct="1"/>
            <a:r>
              <a:rPr lang="es-ES" altLang="es-ES" sz="2400" dirty="0">
                <a:ea typeface="ＭＳ Ｐゴシック" panose="020B0600070205080204" pitchFamily="34" charset="-128"/>
              </a:rPr>
              <a:t>Puede contener otras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operaciones (o variables)</a:t>
            </a:r>
            <a:br>
              <a:rPr lang="es-ES" altLang="es-ES" sz="2400" dirty="0">
                <a:ea typeface="ＭＳ Ｐゴシック" panose="020B0600070205080204" pitchFamily="34" charset="-128"/>
              </a:rPr>
            </a:br>
            <a:r>
              <a:rPr lang="es-ES" altLang="es-ES" sz="2400" dirty="0">
                <a:ea typeface="ＭＳ Ｐゴシック" panose="020B0600070205080204" pitchFamily="34" charset="-128"/>
              </a:rPr>
              <a:t>de </a:t>
            </a:r>
            <a:r>
              <a:rPr lang="es-ES" altLang="es-ES" sz="2400" b="1" dirty="0">
                <a:ea typeface="ＭＳ Ｐゴシック" panose="020B0600070205080204" pitchFamily="34" charset="-128"/>
              </a:rPr>
              <a:t>uso interno</a:t>
            </a:r>
            <a:r>
              <a:rPr lang="es-ES" altLang="es-ES" sz="2400" dirty="0">
                <a:ea typeface="ＭＳ Ｐゴシック" panose="020B0600070205080204" pitchFamily="34" charset="-128"/>
              </a:rPr>
              <a:t>.</a:t>
            </a:r>
          </a:p>
          <a:p>
            <a:pPr lvl="1" eaLnBrk="1" hangingPunct="1"/>
            <a:endParaRPr lang="es-ES" altLang="es-ES" sz="2400" dirty="0">
              <a:ea typeface="ＭＳ Ｐゴシック" panose="020B0600070205080204" pitchFamily="34" charset="-128"/>
            </a:endParaRPr>
          </a:p>
        </p:txBody>
      </p:sp>
      <p:sp>
        <p:nvSpPr>
          <p:cNvPr id="8197" name="5 Rectángulo">
            <a:extLst>
              <a:ext uri="{FF2B5EF4-FFF2-40B4-BE49-F238E27FC236}">
                <a16:creationId xmlns:a16="http://schemas.microsoft.com/office/drawing/2014/main" id="{290B70CB-F9ED-098C-7BE3-1D13150F4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1100" y="2778125"/>
            <a:ext cx="3962400" cy="36941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#include "modulo.h"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int errorCode= 0;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18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void auxiliar (int n) {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  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}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void funcion () {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  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}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void Persona::escribir() {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  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1800">
                <a:latin typeface="Lucida Console" panose="020B0609040504020204" pitchFamily="49" charset="0"/>
              </a:rPr>
              <a:t>}</a:t>
            </a:r>
          </a:p>
        </p:txBody>
      </p:sp>
      <p:sp>
        <p:nvSpPr>
          <p:cNvPr id="9" name="8 Rectángulo">
            <a:extLst>
              <a:ext uri="{FF2B5EF4-FFF2-40B4-BE49-F238E27FC236}">
                <a16:creationId xmlns:a16="http://schemas.microsoft.com/office/drawing/2014/main" id="{50003F45-1E54-E2C0-613C-68AA5258B0AE}"/>
              </a:ext>
            </a:extLst>
          </p:cNvPr>
          <p:cNvSpPr/>
          <p:nvPr/>
        </p:nvSpPr>
        <p:spPr>
          <a:xfrm>
            <a:off x="6019800" y="2417763"/>
            <a:ext cx="1905000" cy="3683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marL="95250" lvl="2" algn="ctr" eaLnBrk="1" hangingPunct="1">
              <a:defRPr/>
            </a:pPr>
            <a:r>
              <a:rPr lang="es-ES" altLang="es-ES" b="1" dirty="0">
                <a:latin typeface="+mj-lt"/>
              </a:rPr>
              <a:t>modulo.cpp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5 Marcador de número de diapositiva">
            <a:extLst>
              <a:ext uri="{FF2B5EF4-FFF2-40B4-BE49-F238E27FC236}">
                <a16:creationId xmlns:a16="http://schemas.microsoft.com/office/drawing/2014/main" id="{5849847E-C7D8-A284-962B-939BB129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C8C4F1EA-2DA9-4D28-BCB1-3AC030ACB282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s-ES" altLang="es-ES" sz="1000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DCE02D70-E95B-C30F-29A5-A07A052F6F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207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Compilación separada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E884D5A3-98C5-80D0-4819-DACAAC7D1C9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219200"/>
            <a:ext cx="8763000" cy="4953000"/>
          </a:xfrm>
        </p:spPr>
        <p:txBody>
          <a:bodyPr/>
          <a:lstStyle/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Supongamos un proyecto con tres módulos: modulo1(.h,.cpp), modulo2(.h,.cpp), modulo3.cpp</a:t>
            </a:r>
          </a:p>
          <a:p>
            <a:pPr eaLnBrk="1" hangingPunct="1">
              <a:defRPr/>
            </a:pPr>
            <a:r>
              <a:rPr lang="es-ES" altLang="es-ES" sz="2800" b="1" dirty="0">
                <a:ea typeface="ＭＳ Ｐゴシック" pitchFamily="34" charset="-128"/>
              </a:rPr>
              <a:t>Compilación conjunta</a:t>
            </a:r>
            <a:r>
              <a:rPr lang="es-ES" altLang="es-ES" sz="2800" dirty="0">
                <a:ea typeface="ＭＳ Ｐゴシック" pitchFamily="34" charset="-128"/>
              </a:rPr>
              <a:t>: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&gt;&gt; g++ modulo1.cpp modulo2.cpp modulo3.cpp</a:t>
            </a:r>
            <a:endParaRPr lang="es-ES" altLang="es-ES" sz="2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eaLnBrk="1" hangingPunct="1">
              <a:defRPr/>
            </a:pPr>
            <a:r>
              <a:rPr lang="es-ES" altLang="es-ES" sz="2800" b="1" dirty="0">
                <a:ea typeface="ＭＳ Ｐゴシック" pitchFamily="34" charset="-128"/>
              </a:rPr>
              <a:t>Compilación separada</a:t>
            </a:r>
            <a:r>
              <a:rPr lang="es-ES" altLang="es-ES" sz="2800" dirty="0">
                <a:ea typeface="ＭＳ Ｐゴシック" pitchFamily="34" charset="-128"/>
              </a:rPr>
              <a:t>: compilar cada módulo por separado (a código objeto) y luego </a:t>
            </a:r>
            <a:r>
              <a:rPr lang="es-ES" altLang="es-ES" sz="2800" dirty="0" err="1">
                <a:ea typeface="ＭＳ Ｐゴシック" pitchFamily="34" charset="-128"/>
              </a:rPr>
              <a:t>lincar</a:t>
            </a:r>
            <a:r>
              <a:rPr lang="es-ES" altLang="es-ES" sz="2800" dirty="0">
                <a:ea typeface="ＭＳ Ｐゴシック" pitchFamily="34" charset="-128"/>
              </a:rPr>
              <a:t> (enlazar).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&gt;&gt; g++ -c modulo1.cpp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&gt;&gt; g++ -c modulo2.cpp</a:t>
            </a:r>
            <a:endParaRPr lang="es-ES" altLang="es-ES" sz="2400" dirty="0">
              <a:ea typeface="ＭＳ Ｐゴシック" pitchFamily="34" charset="-128"/>
            </a:endParaRP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&gt;&gt; g++ -c modulo3.cpp</a:t>
            </a:r>
            <a:endParaRPr lang="es-ES" altLang="es-ES" sz="2400" dirty="0">
              <a:ea typeface="ＭＳ Ｐゴシック" pitchFamily="34" charset="-128"/>
            </a:endParaRP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&gt;&gt; g++ modulo1.o modulo2.o modulo3.o</a:t>
            </a:r>
            <a:endParaRPr lang="es-ES" altLang="es-ES" sz="2400" dirty="0">
              <a:ea typeface="ＭＳ Ｐゴシック" pitchFamily="34" charset="-128"/>
            </a:endParaRP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endParaRPr lang="es-ES" altLang="es-ES" sz="2400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5 Marcador de número de diapositiva">
            <a:extLst>
              <a:ext uri="{FF2B5EF4-FFF2-40B4-BE49-F238E27FC236}">
                <a16:creationId xmlns:a16="http://schemas.microsoft.com/office/drawing/2014/main" id="{8C86B29D-3E65-3E4D-B17F-C59348A49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197E0AB0-D5B1-4665-BE48-994E0D7F83B9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s-ES" altLang="es-ES" sz="1000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250584E5-811D-83E0-76C2-A6E5D63CE5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207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Compilación con make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6CBA0934-253A-C437-DFBB-F1E660B194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143000"/>
            <a:ext cx="8763000" cy="3962400"/>
          </a:xfrm>
        </p:spPr>
        <p:txBody>
          <a:bodyPr/>
          <a:lstStyle/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Ventajas: solo se necesita recompilar lo</a:t>
            </a:r>
            <a:br>
              <a:rPr lang="es-ES" altLang="es-ES" sz="2800" dirty="0">
                <a:ea typeface="ＭＳ Ｐゴシック" pitchFamily="34" charset="-128"/>
              </a:rPr>
            </a:br>
            <a:r>
              <a:rPr lang="es-ES" altLang="es-ES" sz="2800" dirty="0">
                <a:ea typeface="ＭＳ Ｐゴシック" pitchFamily="34" charset="-128"/>
              </a:rPr>
              <a:t>que se haya modificado durante el desarrollo.</a:t>
            </a:r>
          </a:p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Pero, ¿cómo compilar el proyecto completo?</a:t>
            </a:r>
          </a:p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El comando </a:t>
            </a:r>
            <a:r>
              <a:rPr lang="es-ES" altLang="es-ES" sz="2800" b="1" dirty="0" err="1">
                <a:ea typeface="ＭＳ Ｐゴシック" pitchFamily="34" charset="-128"/>
              </a:rPr>
              <a:t>make</a:t>
            </a:r>
            <a:r>
              <a:rPr lang="es-ES" altLang="es-ES" sz="2800" dirty="0">
                <a:ea typeface="ＭＳ Ｐゴシック" pitchFamily="34" charset="-128"/>
              </a:rPr>
              <a:t> de Linux permite automatizar el proceso de compilación separada.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&gt;&gt; </a:t>
            </a:r>
            <a:r>
              <a:rPr lang="es-ES" altLang="es-ES" sz="28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make</a:t>
            </a:r>
            <a:endParaRPr lang="es-ES" altLang="es-ES" sz="2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Busca un fichero de texto llamado </a:t>
            </a:r>
            <a:r>
              <a:rPr lang="es-ES" altLang="es-ES" sz="2800" b="1" dirty="0" err="1">
                <a:ea typeface="ＭＳ Ｐゴシック" pitchFamily="34" charset="-128"/>
              </a:rPr>
              <a:t>Makefile</a:t>
            </a:r>
            <a:r>
              <a:rPr lang="es-ES" altLang="es-ES" sz="2800" dirty="0">
                <a:ea typeface="ＭＳ Ｐゴシック" pitchFamily="34" charset="-128"/>
              </a:rPr>
              <a:t> donde debemos describir cómo compilar el proyecto.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endParaRPr lang="es-ES" altLang="es-ES" dirty="0">
              <a:ea typeface="ＭＳ Ｐゴシック" pitchFamily="34" charset="-128"/>
            </a:endParaRPr>
          </a:p>
        </p:txBody>
      </p:sp>
      <p:sp>
        <p:nvSpPr>
          <p:cNvPr id="10245" name="5 Rectángulo">
            <a:extLst>
              <a:ext uri="{FF2B5EF4-FFF2-40B4-BE49-F238E27FC236}">
                <a16:creationId xmlns:a16="http://schemas.microsoft.com/office/drawing/2014/main" id="{B2B9C4A9-039C-C9B6-7957-2EA8E1381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5156200"/>
            <a:ext cx="5562600" cy="1016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OBJETIVO: FICHERO1 FICHERO2 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	COMANDO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2000">
              <a:latin typeface="Lucida Console" panose="020B0609040504020204" pitchFamily="49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D2DEBA2-9B34-7F6D-BA70-794F5ADC96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5080000"/>
            <a:ext cx="1663700" cy="58420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 eaLnBrk="1" hangingPunct="1">
              <a:defRPr/>
            </a:pPr>
            <a:r>
              <a:rPr lang="es-ES" sz="1600" dirty="0">
                <a:solidFill>
                  <a:srgbClr val="000000"/>
                </a:solidFill>
              </a:rPr>
              <a:t>Objetivo que queremos tener</a:t>
            </a:r>
          </a:p>
        </p:txBody>
      </p:sp>
      <p:sp>
        <p:nvSpPr>
          <p:cNvPr id="7" name="CuadroTexto 5">
            <a:extLst>
              <a:ext uri="{FF2B5EF4-FFF2-40B4-BE49-F238E27FC236}">
                <a16:creationId xmlns:a16="http://schemas.microsoft.com/office/drawing/2014/main" id="{89D0E0D6-947B-21C7-B22F-95E0AE1ABB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8200" y="4956175"/>
            <a:ext cx="1803400" cy="830263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1600" dirty="0">
                <a:solidFill>
                  <a:srgbClr val="000000"/>
                </a:solidFill>
              </a:rPr>
              <a:t>Dependencias: lo que necesitamos para compilarlo</a:t>
            </a:r>
          </a:p>
        </p:txBody>
      </p:sp>
      <p:sp>
        <p:nvSpPr>
          <p:cNvPr id="8" name="CuadroTexto 5">
            <a:extLst>
              <a:ext uri="{FF2B5EF4-FFF2-40B4-BE49-F238E27FC236}">
                <a16:creationId xmlns:a16="http://schemas.microsoft.com/office/drawing/2014/main" id="{ECCA9708-AF33-6286-B65C-36786536C0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6019800"/>
            <a:ext cx="1371600" cy="338138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1600" dirty="0">
                <a:solidFill>
                  <a:srgbClr val="000000"/>
                </a:solidFill>
              </a:rPr>
              <a:t>Un tabulador</a:t>
            </a:r>
          </a:p>
        </p:txBody>
      </p:sp>
      <p:sp>
        <p:nvSpPr>
          <p:cNvPr id="9" name="CuadroTexto 5">
            <a:extLst>
              <a:ext uri="{FF2B5EF4-FFF2-40B4-BE49-F238E27FC236}">
                <a16:creationId xmlns:a16="http://schemas.microsoft.com/office/drawing/2014/main" id="{3CA66FA9-6B7B-D9EE-B0A0-7FD4B5BAC0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6019800"/>
            <a:ext cx="1981200" cy="58420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1600" dirty="0">
                <a:solidFill>
                  <a:srgbClr val="000000"/>
                </a:solidFill>
              </a:rPr>
              <a:t>Comando para compilar el objetivo</a:t>
            </a:r>
          </a:p>
        </p:txBody>
      </p:sp>
      <p:cxnSp>
        <p:nvCxnSpPr>
          <p:cNvPr id="3" name="2 Conector recto de flecha">
            <a:extLst>
              <a:ext uri="{FF2B5EF4-FFF2-40B4-BE49-F238E27FC236}">
                <a16:creationId xmlns:a16="http://schemas.microsoft.com/office/drawing/2014/main" id="{383228C9-975C-CCC1-EED2-5A56F428A3BB}"/>
              </a:ext>
            </a:extLst>
          </p:cNvPr>
          <p:cNvCxnSpPr>
            <a:stCxn id="6" idx="3"/>
          </p:cNvCxnSpPr>
          <p:nvPr/>
        </p:nvCxnSpPr>
        <p:spPr>
          <a:xfrm flipV="1">
            <a:off x="1816100" y="5372100"/>
            <a:ext cx="317500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11 Conector recto de flecha">
            <a:extLst>
              <a:ext uri="{FF2B5EF4-FFF2-40B4-BE49-F238E27FC236}">
                <a16:creationId xmlns:a16="http://schemas.microsoft.com/office/drawing/2014/main" id="{65BFDE5F-A6B8-FFA8-CF53-751FAD592C85}"/>
              </a:ext>
            </a:extLst>
          </p:cNvPr>
          <p:cNvCxnSpPr/>
          <p:nvPr/>
        </p:nvCxnSpPr>
        <p:spPr>
          <a:xfrm flipV="1">
            <a:off x="2133600" y="5664200"/>
            <a:ext cx="317500" cy="52546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 de flecha">
            <a:extLst>
              <a:ext uri="{FF2B5EF4-FFF2-40B4-BE49-F238E27FC236}">
                <a16:creationId xmlns:a16="http://schemas.microsoft.com/office/drawing/2014/main" id="{66DEF4A0-DB18-2EFD-6143-16F35F071AB2}"/>
              </a:ext>
            </a:extLst>
          </p:cNvPr>
          <p:cNvCxnSpPr/>
          <p:nvPr/>
        </p:nvCxnSpPr>
        <p:spPr>
          <a:xfrm flipH="1">
            <a:off x="6324600" y="5156200"/>
            <a:ext cx="863600" cy="9525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 de flecha">
            <a:extLst>
              <a:ext uri="{FF2B5EF4-FFF2-40B4-BE49-F238E27FC236}">
                <a16:creationId xmlns:a16="http://schemas.microsoft.com/office/drawing/2014/main" id="{B638F256-B129-5032-F593-842721A8C4BF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3581400" y="5786438"/>
            <a:ext cx="1066800" cy="23336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5 Marcador de número de diapositiva">
            <a:extLst>
              <a:ext uri="{FF2B5EF4-FFF2-40B4-BE49-F238E27FC236}">
                <a16:creationId xmlns:a16="http://schemas.microsoft.com/office/drawing/2014/main" id="{9360EEFC-7334-DBCB-0202-6D2D7BF06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4F9AC7BD-6017-45F5-92AE-FDCD8AAE1243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s-ES" altLang="es-ES" sz="1000"/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698E6BB7-CB5D-D6B3-D564-E212A05F4B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207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Compilación con make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82B4A2FC-7863-780F-8167-ECCA0EC9B9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143000"/>
            <a:ext cx="7772400" cy="1295400"/>
          </a:xfrm>
        </p:spPr>
        <p:txBody>
          <a:bodyPr/>
          <a:lstStyle/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El objetivo que aparezca en primer lugar</a:t>
            </a:r>
            <a:br>
              <a:rPr lang="es-ES" altLang="es-ES" sz="2800" dirty="0">
                <a:ea typeface="ＭＳ Ｐゴシック" pitchFamily="34" charset="-128"/>
              </a:rPr>
            </a:br>
            <a:r>
              <a:rPr lang="es-ES" altLang="es-ES" sz="2800" dirty="0">
                <a:ea typeface="ＭＳ Ｐゴシック" pitchFamily="34" charset="-128"/>
              </a:rPr>
              <a:t>dentro del </a:t>
            </a:r>
            <a:r>
              <a:rPr lang="es-ES" altLang="es-ES" sz="2800" dirty="0" err="1">
                <a:ea typeface="ＭＳ Ｐゴシック" pitchFamily="34" charset="-128"/>
              </a:rPr>
              <a:t>Makefile</a:t>
            </a:r>
            <a:r>
              <a:rPr lang="es-ES" altLang="es-ES" sz="2800" dirty="0">
                <a:ea typeface="ＭＳ Ｐゴシック" pitchFamily="34" charset="-128"/>
              </a:rPr>
              <a:t> se considera el objetivo principal.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endParaRPr lang="es-ES" altLang="es-ES" dirty="0">
              <a:ea typeface="ＭＳ Ｐゴシック" pitchFamily="34" charset="-128"/>
            </a:endParaRPr>
          </a:p>
        </p:txBody>
      </p:sp>
      <p:sp>
        <p:nvSpPr>
          <p:cNvPr id="11269" name="5 Rectángulo">
            <a:extLst>
              <a:ext uri="{FF2B5EF4-FFF2-40B4-BE49-F238E27FC236}">
                <a16:creationId xmlns:a16="http://schemas.microsoft.com/office/drawing/2014/main" id="{D3919B61-487F-491C-7C95-166B2EA57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6934200" cy="378618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# Un comentario de make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a.out: modulo1.o modulo2.o modulo3.o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	g++ modulo1.o modulo2.o modulo3.o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20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modulo1.o: modulo1.cpp modulo1.h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	g++ -c modulo1.cpp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20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modulo2.o: modulo2.cpp modulo2.h modulo1.h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	g++ -c modulo2.cpp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s-ES" sz="2000">
              <a:latin typeface="Lucida Console" panose="020B060904050402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modulo3.o: modulo3.cpp modulo1.h modulo2.h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" sz="2000">
                <a:latin typeface="Lucida Console" panose="020B0609040504020204" pitchFamily="49" charset="0"/>
              </a:rPr>
              <a:t>	g++ -c modulo3.cpp</a:t>
            </a:r>
          </a:p>
        </p:txBody>
      </p:sp>
      <p:sp>
        <p:nvSpPr>
          <p:cNvPr id="15" name="14 Rectángulo">
            <a:extLst>
              <a:ext uri="{FF2B5EF4-FFF2-40B4-BE49-F238E27FC236}">
                <a16:creationId xmlns:a16="http://schemas.microsoft.com/office/drawing/2014/main" id="{C2B66ECA-393F-2006-6A25-95BEE4A784B0}"/>
              </a:ext>
            </a:extLst>
          </p:cNvPr>
          <p:cNvSpPr/>
          <p:nvPr/>
        </p:nvSpPr>
        <p:spPr>
          <a:xfrm>
            <a:off x="3581400" y="2298700"/>
            <a:ext cx="1905000" cy="3683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marL="95250" lvl="2" algn="ctr" eaLnBrk="1" hangingPunct="1">
              <a:defRPr/>
            </a:pPr>
            <a:r>
              <a:rPr lang="es-ES" altLang="es-ES" b="1" dirty="0" err="1">
                <a:latin typeface="+mj-lt"/>
              </a:rPr>
              <a:t>Makefile</a:t>
            </a:r>
            <a:endParaRPr lang="es-ES" altLang="es-ES" b="1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5 Marcador de número de diapositiva">
            <a:extLst>
              <a:ext uri="{FF2B5EF4-FFF2-40B4-BE49-F238E27FC236}">
                <a16:creationId xmlns:a16="http://schemas.microsoft.com/office/drawing/2014/main" id="{75E2F3DF-4205-DAC5-C806-46B16602A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A64B085-3925-48A9-AF16-4DBB15C83BEF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s-ES" altLang="es-ES" sz="1000"/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A3B2FCF1-FEE9-BF9F-F81B-65ED4EB4C3E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Compilación con make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12B44812-697A-8BAB-51E6-AEFD65E15DE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219200"/>
            <a:ext cx="8610600" cy="5334000"/>
          </a:xfrm>
        </p:spPr>
        <p:txBody>
          <a:bodyPr/>
          <a:lstStyle/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Ahora se compila simplemente con </a:t>
            </a:r>
            <a:r>
              <a:rPr lang="es-ES" altLang="es-ES" sz="2800" dirty="0" err="1">
                <a:ea typeface="ＭＳ Ｐゴシック" pitchFamily="34" charset="-128"/>
              </a:rPr>
              <a:t>make</a:t>
            </a:r>
            <a:r>
              <a:rPr lang="es-ES" altLang="es-ES" sz="2800" dirty="0">
                <a:ea typeface="ＭＳ Ｐゴシック" pitchFamily="34" charset="-128"/>
              </a:rPr>
              <a:t>: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&gt;&gt; </a:t>
            </a:r>
            <a:r>
              <a:rPr lang="es-ES" altLang="es-ES" sz="2400" dirty="0" err="1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make</a:t>
            </a:r>
            <a:endParaRPr lang="es-ES" altLang="es-ES" sz="2400" dirty="0">
              <a:latin typeface="Lucida Sans Typewriter" panose="020B0509030504030204" pitchFamily="49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eaLnBrk="1" hangingPunct="1">
              <a:defRPr/>
            </a:pPr>
            <a:r>
              <a:rPr lang="es-ES" altLang="es-ES" sz="2800" dirty="0">
                <a:ea typeface="ＭＳ Ｐゴシック" pitchFamily="34" charset="-128"/>
              </a:rPr>
              <a:t>Nuestro programa se compone de muchos ficheros. ¿Cómo se envía a </a:t>
            </a:r>
            <a:r>
              <a:rPr lang="es-ES" altLang="es-ES" sz="2800" dirty="0" err="1">
                <a:ea typeface="ＭＳ Ｐゴシック" pitchFamily="34" charset="-128"/>
              </a:rPr>
              <a:t>Mooshak</a:t>
            </a:r>
            <a:r>
              <a:rPr lang="es-ES" altLang="es-ES" sz="2800" dirty="0">
                <a:ea typeface="ＭＳ Ｐゴシック" pitchFamily="34" charset="-128"/>
              </a:rPr>
              <a:t>?</a:t>
            </a:r>
          </a:p>
          <a:p>
            <a:pPr lvl="1" eaLnBrk="1" hangingPunct="1">
              <a:defRPr/>
            </a:pPr>
            <a:r>
              <a:rPr lang="es-ES" altLang="es-ES" sz="2400" dirty="0">
                <a:ea typeface="ＭＳ Ｐゴシック" pitchFamily="34" charset="-128"/>
              </a:rPr>
              <a:t>El ejecutable generado se debe llamar </a:t>
            </a:r>
            <a:r>
              <a:rPr lang="es-ES" altLang="es-ES" sz="2400" dirty="0" err="1">
                <a:ea typeface="ＭＳ Ｐゴシック" pitchFamily="34" charset="-128"/>
              </a:rPr>
              <a:t>a.out</a:t>
            </a:r>
            <a:endParaRPr lang="es-ES" altLang="es-ES" sz="2400" dirty="0">
              <a:ea typeface="ＭＳ Ｐゴシック" pitchFamily="34" charset="-128"/>
            </a:endParaRPr>
          </a:p>
          <a:p>
            <a:pPr lvl="1" eaLnBrk="1" hangingPunct="1">
              <a:defRPr/>
            </a:pPr>
            <a:r>
              <a:rPr lang="es-ES" altLang="es-ES" sz="2400" dirty="0">
                <a:ea typeface="ＭＳ Ｐゴシック" pitchFamily="34" charset="-128"/>
              </a:rPr>
              <a:t>Empaquetamos todos los .</a:t>
            </a:r>
            <a:r>
              <a:rPr lang="es-ES" altLang="es-ES" sz="2400" dirty="0" err="1">
                <a:ea typeface="ＭＳ Ｐゴシック" pitchFamily="34" charset="-128"/>
              </a:rPr>
              <a:t>cpp</a:t>
            </a:r>
            <a:r>
              <a:rPr lang="es-ES" altLang="es-ES" sz="2400" dirty="0">
                <a:ea typeface="ＭＳ Ｐゴシック" pitchFamily="34" charset="-128"/>
              </a:rPr>
              <a:t>, .h, .</a:t>
            </a:r>
            <a:r>
              <a:rPr lang="es-ES" altLang="es-ES" sz="2400" dirty="0" err="1">
                <a:ea typeface="ＭＳ Ｐゴシック" pitchFamily="34" charset="-128"/>
              </a:rPr>
              <a:t>hpp</a:t>
            </a:r>
            <a:r>
              <a:rPr lang="es-ES" altLang="es-ES" sz="2400" dirty="0">
                <a:ea typeface="ＭＳ Ｐゴシック" pitchFamily="34" charset="-128"/>
              </a:rPr>
              <a:t> y </a:t>
            </a:r>
            <a:r>
              <a:rPr lang="es-ES" altLang="es-ES" sz="2400" dirty="0" err="1">
                <a:ea typeface="ＭＳ Ｐゴシック" pitchFamily="34" charset="-128"/>
              </a:rPr>
              <a:t>Makefile</a:t>
            </a:r>
            <a:r>
              <a:rPr lang="es-ES" altLang="es-ES" sz="2400" dirty="0">
                <a:ea typeface="ＭＳ Ｐゴシック" pitchFamily="34" charset="-128"/>
              </a:rPr>
              <a:t>, dentro de un </a:t>
            </a:r>
            <a:r>
              <a:rPr lang="es-ES" altLang="es-ES" sz="2400" dirty="0" err="1">
                <a:ea typeface="ＭＳ Ｐゴシック" pitchFamily="34" charset="-128"/>
              </a:rPr>
              <a:t>tar</a:t>
            </a:r>
            <a:r>
              <a:rPr lang="es-ES" altLang="es-ES" sz="2400" dirty="0">
                <a:ea typeface="ＭＳ Ｐゴシック" pitchFamily="34" charset="-128"/>
              </a:rPr>
              <a:t> sin comprimir:</a:t>
            </a:r>
          </a:p>
          <a:p>
            <a:pPr marL="0" indent="-4763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&gt;&gt; </a:t>
            </a:r>
            <a:r>
              <a:rPr lang="es-ES" altLang="es-ES" sz="2400" dirty="0" err="1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tar</a:t>
            </a:r>
            <a:r>
              <a:rPr lang="es-ES" altLang="es-ES" sz="2400" dirty="0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 -</a:t>
            </a:r>
            <a:r>
              <a:rPr lang="es-ES" altLang="es-ES" sz="2400" dirty="0" err="1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cf</a:t>
            </a:r>
            <a:r>
              <a:rPr lang="es-ES" altLang="es-ES" sz="2400" dirty="0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 archivo.tar *.</a:t>
            </a:r>
            <a:r>
              <a:rPr lang="es-ES" altLang="es-ES" sz="2400" dirty="0" err="1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cpp</a:t>
            </a:r>
            <a:r>
              <a:rPr lang="es-ES" altLang="es-ES" sz="2400" dirty="0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 *.h </a:t>
            </a:r>
            <a:r>
              <a:rPr lang="es-ES" altLang="es-ES" sz="2400" dirty="0" err="1">
                <a:latin typeface="Lucida Sans Typewriter" panose="020B0509030504030204" pitchFamily="49" charset="0"/>
                <a:ea typeface="Verdana" panose="020B0604030504040204" pitchFamily="34" charset="0"/>
                <a:cs typeface="Verdana" panose="020B0604030504040204" pitchFamily="34" charset="0"/>
              </a:rPr>
              <a:t>Makefile</a:t>
            </a:r>
            <a:endParaRPr lang="es-ES" altLang="es-ES" sz="2400" dirty="0">
              <a:latin typeface="Lucida Sans Typewriter" panose="020B0509030504030204" pitchFamily="49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0" indent="-4763" eaLnBrk="1" hangingPunct="1">
              <a:buFont typeface="Wingdings" panose="05000000000000000000" pitchFamily="2" charset="2"/>
              <a:buNone/>
              <a:defRPr/>
            </a:pPr>
            <a:endParaRPr lang="es-ES" altLang="es-ES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338137" eaLnBrk="1" hangingPunct="1">
              <a:defRPr/>
            </a:pPr>
            <a:r>
              <a:rPr lang="es-ES" altLang="es-ES" sz="2500" dirty="0" err="1">
                <a:ea typeface="ＭＳ Ｐゴシック" pitchFamily="34" charset="-128"/>
              </a:rPr>
              <a:t>Mooshak</a:t>
            </a:r>
            <a:r>
              <a:rPr lang="es-ES" altLang="es-ES" sz="2500" dirty="0">
                <a:ea typeface="ＭＳ Ｐゴシック" pitchFamily="34" charset="-128"/>
              </a:rPr>
              <a:t>: (1) tomará el fichero TAR; (2) descomprime los archivos *.</a:t>
            </a:r>
            <a:r>
              <a:rPr lang="es-ES" altLang="es-ES" sz="2500" dirty="0" err="1">
                <a:ea typeface="ＭＳ Ｐゴシック" pitchFamily="34" charset="-128"/>
              </a:rPr>
              <a:t>cpp</a:t>
            </a:r>
            <a:r>
              <a:rPr lang="es-ES" altLang="es-ES" sz="2500" dirty="0">
                <a:ea typeface="ＭＳ Ｐゴシック" pitchFamily="34" charset="-128"/>
              </a:rPr>
              <a:t>, *.h, *.c, *.</a:t>
            </a:r>
            <a:r>
              <a:rPr lang="es-ES" altLang="es-ES" sz="2500" dirty="0" err="1">
                <a:ea typeface="ＭＳ Ｐゴシック" pitchFamily="34" charset="-128"/>
              </a:rPr>
              <a:t>hpp</a:t>
            </a:r>
            <a:r>
              <a:rPr lang="es-ES" altLang="es-ES" sz="2500" dirty="0">
                <a:ea typeface="ＭＳ Ｐゴシック" pitchFamily="34" charset="-128"/>
              </a:rPr>
              <a:t> y </a:t>
            </a:r>
            <a:r>
              <a:rPr lang="es-ES" altLang="es-ES" sz="2500" dirty="0" err="1">
                <a:ea typeface="ＭＳ Ｐゴシック" pitchFamily="34" charset="-128"/>
              </a:rPr>
              <a:t>Makefile</a:t>
            </a:r>
            <a:r>
              <a:rPr lang="es-ES" altLang="es-ES" sz="2500" dirty="0">
                <a:ea typeface="ＭＳ Ｐゴシック" pitchFamily="34" charset="-128"/>
              </a:rPr>
              <a:t>; (3) ejecuta</a:t>
            </a:r>
            <a:br>
              <a:rPr lang="es-ES" altLang="es-ES" sz="2500" dirty="0">
                <a:ea typeface="ＭＳ Ｐゴシック" pitchFamily="34" charset="-128"/>
              </a:rPr>
            </a:br>
            <a:r>
              <a:rPr lang="es-ES" altLang="es-ES" sz="2500" dirty="0">
                <a:ea typeface="ＭＳ Ｐゴシック" pitchFamily="34" charset="-128"/>
              </a:rPr>
              <a:t>"&gt;&gt; </a:t>
            </a:r>
            <a:r>
              <a:rPr lang="es-ES" altLang="es-ES" sz="2500" dirty="0" err="1">
                <a:ea typeface="ＭＳ Ｐゴシック" pitchFamily="34" charset="-128"/>
              </a:rPr>
              <a:t>make</a:t>
            </a:r>
            <a:r>
              <a:rPr lang="es-ES" altLang="es-ES" sz="2500" dirty="0">
                <a:ea typeface="ＭＳ Ｐゴシック" pitchFamily="34" charset="-128"/>
              </a:rPr>
              <a:t>"; y (4) ejecuta "&gt;&gt; ./</a:t>
            </a:r>
            <a:r>
              <a:rPr lang="es-ES" altLang="es-ES" sz="2500" dirty="0" err="1">
                <a:ea typeface="ＭＳ Ｐゴシック" pitchFamily="34" charset="-128"/>
              </a:rPr>
              <a:t>a.out</a:t>
            </a:r>
            <a:r>
              <a:rPr lang="es-ES" altLang="es-ES" sz="2500" dirty="0">
                <a:ea typeface="ＭＳ Ｐゴシック" pitchFamily="34" charset="-128"/>
              </a:rPr>
              <a:t>".</a:t>
            </a:r>
            <a:endParaRPr lang="es-ES" altLang="es-ES" sz="2500" dirty="0">
              <a:latin typeface="Lucida Console" pitchFamily="49" charset="0"/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1 Título">
            <a:extLst>
              <a:ext uri="{FF2B5EF4-FFF2-40B4-BE49-F238E27FC236}">
                <a16:creationId xmlns:a16="http://schemas.microsoft.com/office/drawing/2014/main" id="{20AA8679-FEC0-9BF4-2186-9BB00E4DBD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altLang="es-ES" cap="none">
                <a:ea typeface="ＭＳ Ｐゴシック" panose="020B0600070205080204" pitchFamily="34" charset="-128"/>
              </a:rPr>
              <a:t>Planificación práctica</a:t>
            </a:r>
          </a:p>
        </p:txBody>
      </p:sp>
      <p:sp>
        <p:nvSpPr>
          <p:cNvPr id="22531" name="2 Marcador de texto">
            <a:extLst>
              <a:ext uri="{FF2B5EF4-FFF2-40B4-BE49-F238E27FC236}">
                <a16:creationId xmlns:a16="http://schemas.microsoft.com/office/drawing/2014/main" id="{9860F4A2-A8EB-D91E-52C7-F9CE76BB4A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altLang="es-ES">
                <a:ea typeface="ＭＳ Ｐゴシック" panose="020B0600070205080204" pitchFamily="34" charset="-128"/>
              </a:rPr>
              <a:t>Semana 3: ejercicios 005 y 006</a:t>
            </a:r>
          </a:p>
        </p:txBody>
      </p:sp>
      <p:sp>
        <p:nvSpPr>
          <p:cNvPr id="37892" name="3 Marcador de número de diapositiva">
            <a:extLst>
              <a:ext uri="{FF2B5EF4-FFF2-40B4-BE49-F238E27FC236}">
                <a16:creationId xmlns:a16="http://schemas.microsoft.com/office/drawing/2014/main" id="{4F6CA756-EF07-4C66-A58E-8C896A73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17B1197-917F-4D39-A61D-CA1C14BA0744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s-ES" altLang="es-ES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ítulo 1">
            <a:extLst>
              <a:ext uri="{FF2B5EF4-FFF2-40B4-BE49-F238E27FC236}">
                <a16:creationId xmlns:a16="http://schemas.microsoft.com/office/drawing/2014/main" id="{262FBBE7-FC8F-11A6-4EC3-C2BC3B87B48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altLang="es-ES">
                <a:ea typeface="ＭＳ Ｐゴシック" panose="020B0600070205080204" pitchFamily="34" charset="-128"/>
              </a:rPr>
              <a:t>005 – Intérprete de comandos</a:t>
            </a:r>
          </a:p>
        </p:txBody>
      </p:sp>
      <p:sp>
        <p:nvSpPr>
          <p:cNvPr id="23555" name="Marcador de contenido 2">
            <a:extLst>
              <a:ext uri="{FF2B5EF4-FFF2-40B4-BE49-F238E27FC236}">
                <a16:creationId xmlns:a16="http://schemas.microsoft.com/office/drawing/2014/main" id="{537CCE88-F7D9-9503-8C96-58D0406DB2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76400"/>
            <a:ext cx="8229600" cy="4724400"/>
          </a:xfrm>
        </p:spPr>
        <p:txBody>
          <a:bodyPr/>
          <a:lstStyle/>
          <a:p>
            <a:r>
              <a:rPr lang="es-ES" altLang="es-ES">
                <a:ea typeface="ＭＳ Ｐゴシック" panose="020B0600070205080204" pitchFamily="34" charset="-128"/>
              </a:rPr>
              <a:t>Construir un intérprete de comandos que reconozca los comandos del problema.</a:t>
            </a:r>
          </a:p>
          <a:p>
            <a:r>
              <a:rPr lang="es-ES_tradnl" altLang="es-ES">
                <a:ea typeface="ＭＳ Ｐゴシック" panose="020B0600070205080204" pitchFamily="34" charset="-128"/>
              </a:rPr>
              <a:t>Objetivo: crear el </a:t>
            </a:r>
            <a:r>
              <a:rPr lang="es-ES_tradnl" altLang="es-ES" b="1">
                <a:ea typeface="ＭＳ Ｐゴシック" panose="020B0600070205080204" pitchFamily="34" charset="-128"/>
              </a:rPr>
              <a:t>esqueleto</a:t>
            </a:r>
            <a:r>
              <a:rPr lang="es-ES_tradnl" altLang="es-ES">
                <a:ea typeface="ＭＳ Ｐゴシック" panose="020B0600070205080204" pitchFamily="34" charset="-128"/>
              </a:rPr>
              <a:t> del programa</a:t>
            </a:r>
            <a:br>
              <a:rPr lang="es-ES_tradnl" altLang="es-ES">
                <a:ea typeface="ＭＳ Ｐゴシック" panose="020B0600070205080204" pitchFamily="34" charset="-128"/>
              </a:rPr>
            </a:br>
            <a:r>
              <a:rPr lang="es-ES_tradnl" altLang="es-ES">
                <a:ea typeface="ＭＳ Ｐゴシック" panose="020B0600070205080204" pitchFamily="34" charset="-128"/>
              </a:rPr>
              <a:t>principal de la práctica.</a:t>
            </a:r>
          </a:p>
          <a:p>
            <a:r>
              <a:rPr lang="es-ES_tradnl" altLang="es-ES">
                <a:ea typeface="ＭＳ Ｐゴシック" panose="020B0600070205080204" pitchFamily="34" charset="-128"/>
              </a:rPr>
              <a:t>Cuestiones a tratar:</a:t>
            </a:r>
          </a:p>
          <a:p>
            <a:pPr lvl="1"/>
            <a:r>
              <a:rPr lang="es-ES" altLang="es-ES">
                <a:ea typeface="ＭＳ Ｐゴシック" panose="020B0600070205080204" pitchFamily="34" charset="-128"/>
              </a:rPr>
              <a:t>Crear un procedimiento para cada comando.</a:t>
            </a:r>
          </a:p>
          <a:p>
            <a:pPr lvl="1"/>
            <a:r>
              <a:rPr lang="es-ES" altLang="es-ES">
                <a:ea typeface="ＭＳ Ｐゴシック" panose="020B0600070205080204" pitchFamily="34" charset="-128"/>
              </a:rPr>
              <a:t>Crear un intérprete que haga un análisis de casos.</a:t>
            </a:r>
          </a:p>
          <a:p>
            <a:pPr lvl="1"/>
            <a:r>
              <a:rPr lang="es-ES" altLang="es-ES">
                <a:ea typeface="ＭＳ Ｐゴシック" panose="020B0600070205080204" pitchFamily="34" charset="-128"/>
              </a:rPr>
              <a:t>Según el caso, se llama a un procedimiento.</a:t>
            </a:r>
            <a:endParaRPr lang="es-ES_tradnl" altLang="es-ES">
              <a:ea typeface="ＭＳ Ｐゴシック" panose="020B0600070205080204" pitchFamily="34" charset="-128"/>
            </a:endParaRPr>
          </a:p>
        </p:txBody>
      </p:sp>
      <p:sp>
        <p:nvSpPr>
          <p:cNvPr id="23556" name="Marcador de número de diapositiva 3">
            <a:extLst>
              <a:ext uri="{FF2B5EF4-FFF2-40B4-BE49-F238E27FC236}">
                <a16:creationId xmlns:a16="http://schemas.microsoft.com/office/drawing/2014/main" id="{8C548FF2-8FE0-23E5-71AE-F54B036F7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71C1FA9-15D1-4BF7-BF6C-3B763C9E18AE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s-ES" altLang="es-ES" sz="1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ítulo 1">
            <a:extLst>
              <a:ext uri="{FF2B5EF4-FFF2-40B4-BE49-F238E27FC236}">
                <a16:creationId xmlns:a16="http://schemas.microsoft.com/office/drawing/2014/main" id="{4A4F0CF2-8550-DDCA-2E01-58003A6F6A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944562"/>
          </a:xfrm>
        </p:spPr>
        <p:txBody>
          <a:bodyPr/>
          <a:lstStyle/>
          <a:p>
            <a:r>
              <a:rPr lang="es-ES" altLang="es-ES">
                <a:ea typeface="ＭＳ Ｐゴシック" panose="020B0600070205080204" pitchFamily="34" charset="-128"/>
              </a:rPr>
              <a:t>005 – Intérprete de comandos</a:t>
            </a:r>
          </a:p>
        </p:txBody>
      </p:sp>
      <p:sp>
        <p:nvSpPr>
          <p:cNvPr id="24579" name="Marcador de contenido 2">
            <a:extLst>
              <a:ext uri="{FF2B5EF4-FFF2-40B4-BE49-F238E27FC236}">
                <a16:creationId xmlns:a16="http://schemas.microsoft.com/office/drawing/2014/main" id="{1F9ED0B0-1DF3-256B-955B-EE55B06116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46088" y="1066800"/>
            <a:ext cx="8229600" cy="609600"/>
          </a:xfrm>
        </p:spPr>
        <p:txBody>
          <a:bodyPr/>
          <a:lstStyle/>
          <a:p>
            <a:r>
              <a:rPr lang="es-ES" altLang="es-ES">
                <a:ea typeface="ＭＳ Ｐゴシック" panose="020B0600070205080204" pitchFamily="34" charset="-128"/>
              </a:rPr>
              <a:t>Ejemplo entrada/salida:</a:t>
            </a:r>
          </a:p>
        </p:txBody>
      </p:sp>
      <p:sp>
        <p:nvSpPr>
          <p:cNvPr id="24580" name="Marcador de número de diapositiva 3">
            <a:extLst>
              <a:ext uri="{FF2B5EF4-FFF2-40B4-BE49-F238E27FC236}">
                <a16:creationId xmlns:a16="http://schemas.microsoft.com/office/drawing/2014/main" id="{5978A9A0-BCA6-707C-077D-382CAB47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26D515A9-6422-4240-BE93-4AE3ACA750F9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s-ES" altLang="es-ES" sz="1000"/>
          </a:p>
        </p:txBody>
      </p:sp>
      <p:sp>
        <p:nvSpPr>
          <p:cNvPr id="24581" name="1 Rectángulo">
            <a:extLst>
              <a:ext uri="{FF2B5EF4-FFF2-40B4-BE49-F238E27FC236}">
                <a16:creationId xmlns:a16="http://schemas.microsoft.com/office/drawing/2014/main" id="{906E1C6F-BE57-261B-5410-4081DC8ED1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463" y="1595438"/>
            <a:ext cx="4017962" cy="4354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mcuac RafaelNaval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25/10/2011 13:45:11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¡Feliz Navidad #amigosdenaval!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pcuac RafaelNaval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28/11/2011 11:27:08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5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last 5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follow Perico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mcuac GinesGM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6/5/2012 16:00:00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Dicen en #eltiempo que este lunes...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100">
                <a:latin typeface="Lucida Sans Typewriter" panose="020B0509030504030204" pitchFamily="49" charset="0"/>
              </a:rPr>
              <a:t>date 28/11/2011 11:27:04 28/11/2012 11:27:08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pcuac Gutierrez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1/1/2013 00:00:00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27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last 100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pcuac GinesGM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1/1/2013 00:00:01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30</a:t>
            </a:r>
          </a:p>
          <a:p>
            <a:pPr marL="0"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tag #eltiempo</a:t>
            </a:r>
          </a:p>
        </p:txBody>
      </p:sp>
      <p:sp>
        <p:nvSpPr>
          <p:cNvPr id="24582" name="1 Rectángulo">
            <a:extLst>
              <a:ext uri="{FF2B5EF4-FFF2-40B4-BE49-F238E27FC236}">
                <a16:creationId xmlns:a16="http://schemas.microsoft.com/office/drawing/2014/main" id="{5174272D-1A16-8B68-C8AE-15826F0F90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3388" y="1577975"/>
            <a:ext cx="4824412" cy="54324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80975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2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last 5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1. RafaelNaval 28/11/2011 11:27:08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   Enhorabuena, campeones!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Total: 1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follow Perico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1. RafaelNaval 28/11/2011 11:27:08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   Enhorabuena, campeones!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Total: 1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3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100">
                <a:solidFill>
                  <a:srgbClr val="000000"/>
                </a:solidFill>
                <a:latin typeface="Lucida Sans Typewriter" panose="020B0509030504030204" pitchFamily="49" charset="0"/>
              </a:rPr>
              <a:t>date 28/11/2011 11:27:04 28/11/2012 11:27:08</a:t>
            </a:r>
            <a:endParaRPr lang="es-ES" altLang="es-ES_tradnl" sz="1400">
              <a:latin typeface="Lucida Sans Typewriter" panose="020B0509030504030204" pitchFamily="49" charset="0"/>
            </a:endParaRP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1. GinesGM 6/5/2012 16:00:00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   Dicen en #eltiempo que este lunes...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Total: 1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4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last 100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1. Gutierrez 1/1/2013 00:00:00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   </a:t>
            </a:r>
            <a:r>
              <a:rPr lang="es-ES" altLang="es-ES_tradnl" sz="1300">
                <a:latin typeface="Lucida Sans Typewriter" panose="020B0509030504030204" pitchFamily="49" charset="0"/>
              </a:rPr>
              <a:t>Me despido hasta la proxima. Buen viaje!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Total: 1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5 cuac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tag #eltiempo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1. GinesGM 1/1/2013 00:00:01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   </a:t>
            </a:r>
            <a:r>
              <a:rPr lang="es-ES" altLang="es-ES_tradnl" sz="1100">
                <a:latin typeface="Lucida Sans Typewriter" panose="020B0509030504030204" pitchFamily="49" charset="0"/>
              </a:rPr>
              <a:t>El que quiera saber mas, que se vaya a Salamanca.</a:t>
            </a:r>
          </a:p>
          <a:p>
            <a:pPr lvl="2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s-ES_tradnl" sz="1400">
                <a:latin typeface="Lucida Sans Typewriter" panose="020B0509030504030204" pitchFamily="49" charset="0"/>
              </a:rPr>
              <a:t>Total: 1 cuac</a:t>
            </a:r>
          </a:p>
        </p:txBody>
      </p:sp>
      <p:sp>
        <p:nvSpPr>
          <p:cNvPr id="2" name="1 Flecha derecha">
            <a:extLst>
              <a:ext uri="{FF2B5EF4-FFF2-40B4-BE49-F238E27FC236}">
                <a16:creationId xmlns:a16="http://schemas.microsoft.com/office/drawing/2014/main" id="{73ECB261-2FEC-43A5-8F7B-D29CBBC92DA1}"/>
              </a:ext>
            </a:extLst>
          </p:cNvPr>
          <p:cNvSpPr/>
          <p:nvPr/>
        </p:nvSpPr>
        <p:spPr>
          <a:xfrm>
            <a:off x="3733800" y="3429000"/>
            <a:ext cx="685800" cy="409575"/>
          </a:xfrm>
          <a:prstGeom prst="rightArrow">
            <a:avLst>
              <a:gd name="adj1" fmla="val 24851"/>
              <a:gd name="adj2" fmla="val 60060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E7CA3B9-0771-4ED8-9737-8C1412FC4349}"/>
              </a:ext>
            </a:extLst>
          </p:cNvPr>
          <p:cNvSpPr/>
          <p:nvPr/>
        </p:nvSpPr>
        <p:spPr>
          <a:xfrm>
            <a:off x="144463" y="1592263"/>
            <a:ext cx="4017962" cy="676275"/>
          </a:xfrm>
          <a:prstGeom prst="rect">
            <a:avLst/>
          </a:prstGeom>
          <a:solidFill>
            <a:srgbClr val="66FF66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F019195-6747-49BD-9CFA-574875A718C9}"/>
              </a:ext>
            </a:extLst>
          </p:cNvPr>
          <p:cNvSpPr/>
          <p:nvPr/>
        </p:nvSpPr>
        <p:spPr>
          <a:xfrm>
            <a:off x="4243388" y="1587500"/>
            <a:ext cx="4824412" cy="231775"/>
          </a:xfrm>
          <a:prstGeom prst="rect">
            <a:avLst/>
          </a:prstGeom>
          <a:solidFill>
            <a:srgbClr val="66FF66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2D2DD0D-C76C-440D-97AA-450CAABB63D7}"/>
              </a:ext>
            </a:extLst>
          </p:cNvPr>
          <p:cNvSpPr/>
          <p:nvPr/>
        </p:nvSpPr>
        <p:spPr>
          <a:xfrm>
            <a:off x="144463" y="2268538"/>
            <a:ext cx="4017962" cy="609600"/>
          </a:xfrm>
          <a:prstGeom prst="rect">
            <a:avLst/>
          </a:prstGeom>
          <a:solidFill>
            <a:srgbClr val="00B0F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>
              <a:solidFill>
                <a:srgbClr val="00FFFF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494D8A4-7319-4F61-B79B-11A1B70B82D4}"/>
              </a:ext>
            </a:extLst>
          </p:cNvPr>
          <p:cNvSpPr/>
          <p:nvPr/>
        </p:nvSpPr>
        <p:spPr>
          <a:xfrm>
            <a:off x="4243388" y="1817688"/>
            <a:ext cx="4824412" cy="231775"/>
          </a:xfrm>
          <a:prstGeom prst="rect">
            <a:avLst/>
          </a:prstGeom>
          <a:solidFill>
            <a:srgbClr val="00B0F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>
              <a:solidFill>
                <a:srgbClr val="00FFFF"/>
              </a:solidFill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4126958-4DD4-4B0C-8F34-11AB1A459E67}"/>
              </a:ext>
            </a:extLst>
          </p:cNvPr>
          <p:cNvSpPr/>
          <p:nvPr/>
        </p:nvSpPr>
        <p:spPr>
          <a:xfrm>
            <a:off x="144463" y="2889250"/>
            <a:ext cx="4017962" cy="246063"/>
          </a:xfrm>
          <a:prstGeom prst="rect">
            <a:avLst/>
          </a:prstGeom>
          <a:solidFill>
            <a:srgbClr val="0070C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85C05EF-F873-48BE-BB87-3F289CE58E0C}"/>
              </a:ext>
            </a:extLst>
          </p:cNvPr>
          <p:cNvSpPr/>
          <p:nvPr/>
        </p:nvSpPr>
        <p:spPr>
          <a:xfrm>
            <a:off x="4243388" y="2049463"/>
            <a:ext cx="4824412" cy="852487"/>
          </a:xfrm>
          <a:prstGeom prst="rect">
            <a:avLst/>
          </a:prstGeom>
          <a:solidFill>
            <a:srgbClr val="0070C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05DB69B-73AB-458C-B4D9-5AAD23817071}"/>
              </a:ext>
            </a:extLst>
          </p:cNvPr>
          <p:cNvSpPr/>
          <p:nvPr/>
        </p:nvSpPr>
        <p:spPr>
          <a:xfrm>
            <a:off x="144463" y="3114675"/>
            <a:ext cx="4017962" cy="246063"/>
          </a:xfrm>
          <a:prstGeom prst="rect">
            <a:avLst/>
          </a:prstGeom>
          <a:solidFill>
            <a:srgbClr val="7030A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E374B2C-64D6-46FF-9671-A3BEE2AED94D}"/>
              </a:ext>
            </a:extLst>
          </p:cNvPr>
          <p:cNvSpPr/>
          <p:nvPr/>
        </p:nvSpPr>
        <p:spPr>
          <a:xfrm>
            <a:off x="4243388" y="2895600"/>
            <a:ext cx="4824412" cy="838200"/>
          </a:xfrm>
          <a:prstGeom prst="rect">
            <a:avLst/>
          </a:prstGeom>
          <a:solidFill>
            <a:srgbClr val="7030A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A91BC28-253D-4540-84D0-97278AEADEC2}"/>
              </a:ext>
            </a:extLst>
          </p:cNvPr>
          <p:cNvSpPr/>
          <p:nvPr/>
        </p:nvSpPr>
        <p:spPr>
          <a:xfrm>
            <a:off x="144463" y="3362325"/>
            <a:ext cx="4017962" cy="600075"/>
          </a:xfrm>
          <a:prstGeom prst="rect">
            <a:avLst/>
          </a:prstGeom>
          <a:solidFill>
            <a:srgbClr val="FFC00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70D69FE-0297-4860-B6AC-F44AEE76870A}"/>
              </a:ext>
            </a:extLst>
          </p:cNvPr>
          <p:cNvSpPr/>
          <p:nvPr/>
        </p:nvSpPr>
        <p:spPr>
          <a:xfrm>
            <a:off x="4243388" y="3733800"/>
            <a:ext cx="4824412" cy="220663"/>
          </a:xfrm>
          <a:prstGeom prst="rect">
            <a:avLst/>
          </a:prstGeom>
          <a:solidFill>
            <a:srgbClr val="FFC00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648B8DF-E559-4C2A-B46F-23DEE63C1004}"/>
              </a:ext>
            </a:extLst>
          </p:cNvPr>
          <p:cNvSpPr/>
          <p:nvPr/>
        </p:nvSpPr>
        <p:spPr>
          <a:xfrm>
            <a:off x="144463" y="3956050"/>
            <a:ext cx="4017962" cy="219075"/>
          </a:xfrm>
          <a:prstGeom prst="rect">
            <a:avLst/>
          </a:prstGeom>
          <a:solidFill>
            <a:srgbClr val="FFFF0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82520D9E-8ACC-4DCD-9AED-8B43E9EA7D8A}"/>
              </a:ext>
            </a:extLst>
          </p:cNvPr>
          <p:cNvSpPr/>
          <p:nvPr/>
        </p:nvSpPr>
        <p:spPr>
          <a:xfrm>
            <a:off x="4243388" y="3952875"/>
            <a:ext cx="4824412" cy="831850"/>
          </a:xfrm>
          <a:prstGeom prst="rect">
            <a:avLst/>
          </a:prstGeom>
          <a:solidFill>
            <a:srgbClr val="FFFF00">
              <a:alpha val="3098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ítulo 1">
            <a:extLst>
              <a:ext uri="{FF2B5EF4-FFF2-40B4-BE49-F238E27FC236}">
                <a16:creationId xmlns:a16="http://schemas.microsoft.com/office/drawing/2014/main" id="{BA03B691-5C59-4224-44FE-230D3798D4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92162"/>
          </a:xfrm>
        </p:spPr>
        <p:txBody>
          <a:bodyPr/>
          <a:lstStyle/>
          <a:p>
            <a:r>
              <a:rPr lang="es-ES" altLang="es-ES">
                <a:ea typeface="ＭＳ Ｐゴシック" panose="020B0600070205080204" pitchFamily="34" charset="-128"/>
              </a:rPr>
              <a:t>005 – Intérprete de comandos</a:t>
            </a:r>
          </a:p>
        </p:txBody>
      </p:sp>
      <p:sp>
        <p:nvSpPr>
          <p:cNvPr id="20483" name="Marcador de contenido 2">
            <a:extLst>
              <a:ext uri="{FF2B5EF4-FFF2-40B4-BE49-F238E27FC236}">
                <a16:creationId xmlns:a16="http://schemas.microsoft.com/office/drawing/2014/main" id="{68E498B3-8C3B-4D95-ABF9-7FDFA92E4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838200"/>
            <a:ext cx="8305800" cy="5486400"/>
          </a:xfrm>
        </p:spPr>
        <p:txBody>
          <a:bodyPr/>
          <a:lstStyle/>
          <a:p>
            <a:pPr>
              <a:defRPr/>
            </a:pPr>
            <a:r>
              <a:rPr lang="es-ES" altLang="es-ES" sz="2800" dirty="0">
                <a:ea typeface="ＭＳ Ｐゴシック" pitchFamily="34" charset="-128"/>
              </a:rPr>
              <a:t>Más adelante daremos contenido a los comandos. Por ahora estarán todos “vacíos”.</a:t>
            </a:r>
          </a:p>
          <a:p>
            <a:pPr>
              <a:defRPr/>
            </a:pPr>
            <a:r>
              <a:rPr lang="es-ES" altLang="es-ES" sz="2800" dirty="0">
                <a:ea typeface="ＭＳ Ｐゴシック" pitchFamily="34" charset="-128"/>
              </a:rPr>
              <a:t>Usamos un </a:t>
            </a:r>
            <a:r>
              <a:rPr lang="es-ES" altLang="es-ES" sz="2800" b="1" dirty="0">
                <a:ea typeface="ＭＳ Ｐゴシック" pitchFamily="34" charset="-128"/>
              </a:rPr>
              <a:t>contador</a:t>
            </a:r>
            <a:r>
              <a:rPr lang="es-ES" altLang="es-ES" sz="2800" dirty="0">
                <a:ea typeface="ＭＳ Ｐゴシック" pitchFamily="34" charset="-128"/>
              </a:rPr>
              <a:t> del número de </a:t>
            </a:r>
            <a:r>
              <a:rPr lang="es-ES" altLang="es-ES" sz="2800" dirty="0" err="1">
                <a:ea typeface="ＭＳ Ｐゴシック" pitchFamily="34" charset="-128"/>
              </a:rPr>
              <a:t>cuacs</a:t>
            </a:r>
            <a:r>
              <a:rPr lang="es-ES" altLang="es-ES" sz="2800" dirty="0">
                <a:ea typeface="ＭＳ Ｐゴシック" pitchFamily="34" charset="-128"/>
              </a:rPr>
              <a:t> y el último </a:t>
            </a:r>
            <a:r>
              <a:rPr lang="es-ES" altLang="es-ES" sz="2800" dirty="0" err="1">
                <a:ea typeface="ＭＳ Ｐゴシック" pitchFamily="34" charset="-128"/>
              </a:rPr>
              <a:t>cuac</a:t>
            </a:r>
            <a:r>
              <a:rPr lang="es-ES" altLang="es-ES" sz="2800" dirty="0">
                <a:ea typeface="ＭＳ Ｐゴシック" pitchFamily="34" charset="-128"/>
              </a:rPr>
              <a:t>.</a:t>
            </a:r>
            <a:endParaRPr lang="es-ES_tradnl" altLang="es-ES" sz="2800" dirty="0">
              <a:ea typeface="ＭＳ Ｐゴシック" pitchFamily="34" charset="-128"/>
            </a:endParaRPr>
          </a:p>
          <a:p>
            <a:pPr>
              <a:defRPr/>
            </a:pPr>
            <a:r>
              <a:rPr lang="es-ES_tradnl" altLang="es-ES" sz="2800" dirty="0">
                <a:ea typeface="ＭＳ Ｐゴシック" pitchFamily="34" charset="-128"/>
              </a:rPr>
              <a:t>El </a:t>
            </a:r>
            <a:r>
              <a:rPr lang="es-ES_tradnl" altLang="es-ES" sz="2800" b="1" dirty="0" err="1">
                <a:ea typeface="ＭＳ Ｐゴシック" pitchFamily="34" charset="-128"/>
              </a:rPr>
              <a:t>main</a:t>
            </a:r>
            <a:r>
              <a:rPr lang="es-ES_tradnl" altLang="es-ES" sz="2800" dirty="0">
                <a:ea typeface="ＭＳ Ｐゴシック" pitchFamily="34" charset="-128"/>
              </a:rPr>
              <a:t> queda parecido a lo siguiente:</a:t>
            </a: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endParaRPr lang="es-ES" altLang="es-ES" sz="1200" dirty="0">
              <a:latin typeface="Lucida Console" panose="020B0609040504020204" pitchFamily="49" charset="0"/>
              <a:ea typeface="ＭＳ Ｐゴシック" pitchFamily="34" charset="-128"/>
            </a:endParaRP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int</a:t>
            </a:r>
            <a:r>
              <a:rPr lang="es-ES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contador = 0;</a:t>
            </a: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Cuac</a:t>
            </a:r>
            <a:r>
              <a:rPr lang="es-ES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actual;</a:t>
            </a: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...</a:t>
            </a:r>
            <a:endParaRPr lang="es-ES_tradnl" altLang="es-ES" sz="2200" dirty="0">
              <a:latin typeface="Lucida Console" panose="020B0609040504020204" pitchFamily="49" charset="0"/>
              <a:ea typeface="ＭＳ Ｐゴシック" pitchFamily="34" charset="-128"/>
            </a:endParaRP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int</a:t>
            </a:r>
            <a:r>
              <a:rPr lang="es-ES_tradnl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</a:t>
            </a:r>
            <a:r>
              <a:rPr lang="es-ES_tradnl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main</a:t>
            </a:r>
            <a:r>
              <a:rPr lang="es-ES_tradnl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(</a:t>
            </a:r>
            <a:r>
              <a:rPr lang="es-ES_tradnl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void</a:t>
            </a:r>
            <a:r>
              <a:rPr lang="es-ES_tradnl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) {</a:t>
            </a: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  </a:t>
            </a:r>
            <a:r>
              <a:rPr lang="es-ES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string</a:t>
            </a:r>
            <a:r>
              <a:rPr lang="es-ES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comando;</a:t>
            </a:r>
            <a:endParaRPr lang="es-ES_tradnl" altLang="es-ES" sz="2200" dirty="0">
              <a:latin typeface="Lucida Console" panose="020B0609040504020204" pitchFamily="49" charset="0"/>
              <a:ea typeface="ＭＳ Ｐゴシック" pitchFamily="34" charset="-128"/>
            </a:endParaRP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  </a:t>
            </a:r>
            <a:r>
              <a:rPr lang="es-ES_tradnl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while</a:t>
            </a:r>
            <a:r>
              <a:rPr lang="es-ES_tradnl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(</a:t>
            </a:r>
            <a:r>
              <a:rPr lang="es-ES_tradnl" altLang="es-ES" sz="2200" dirty="0" err="1">
                <a:latin typeface="Lucida Console" panose="020B0609040504020204" pitchFamily="49" charset="0"/>
                <a:ea typeface="ＭＳ Ｐゴシック" pitchFamily="34" charset="-128"/>
              </a:rPr>
              <a:t>cin</a:t>
            </a:r>
            <a:r>
              <a:rPr lang="es-ES_tradnl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&gt;&gt; comando &amp;&amp; comando!="</a:t>
            </a:r>
            <a:r>
              <a:rPr lang="es-ES" altLang="es-ES" sz="22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exit</a:t>
            </a:r>
            <a:r>
              <a:rPr lang="es-ES" altLang="es-ES" sz="22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"</a:t>
            </a:r>
            <a:r>
              <a:rPr lang="es-ES_tradnl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)</a:t>
            </a: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      Interprete(comando);</a:t>
            </a:r>
            <a:endParaRPr lang="es-ES_tradnl" altLang="es-ES" sz="2200" dirty="0">
              <a:latin typeface="Lucida Console" panose="020B0609040504020204" pitchFamily="49" charset="0"/>
              <a:ea typeface="ＭＳ Ｐゴシック" pitchFamily="34" charset="-128"/>
            </a:endParaRPr>
          </a:p>
          <a:p>
            <a:pPr marL="0" indent="0">
              <a:spcBef>
                <a:spcPts val="20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2200" dirty="0">
                <a:latin typeface="Lucida Console" panose="020B0609040504020204" pitchFamily="49" charset="0"/>
                <a:ea typeface="ＭＳ Ｐゴシック" pitchFamily="34" charset="-128"/>
              </a:rPr>
              <a:t>}</a:t>
            </a:r>
            <a:endParaRPr lang="es-ES_tradnl" altLang="es-ES" sz="2200" dirty="0">
              <a:latin typeface="Lucida Console" panose="020B0609040504020204" pitchFamily="49" charset="0"/>
              <a:ea typeface="ＭＳ Ｐゴシック" pitchFamily="34" charset="-128"/>
            </a:endParaRPr>
          </a:p>
        </p:txBody>
      </p:sp>
      <p:sp>
        <p:nvSpPr>
          <p:cNvPr id="25604" name="Marcador de número de diapositiva 3">
            <a:extLst>
              <a:ext uri="{FF2B5EF4-FFF2-40B4-BE49-F238E27FC236}">
                <a16:creationId xmlns:a16="http://schemas.microsoft.com/office/drawing/2014/main" id="{9BD8CE95-98DB-35B5-3CC5-AE2FD7125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7DEC44D-D512-4E88-AEA6-CC4FEF5A904A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A03A4FC6-B4CC-419B-BA07-0BD271A92A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0463" y="3402013"/>
            <a:ext cx="2438400" cy="120015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3600" dirty="0">
                <a:solidFill>
                  <a:srgbClr val="000000"/>
                </a:solidFill>
              </a:rPr>
              <a:t>¡Simple y claro!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ítulo 1">
            <a:extLst>
              <a:ext uri="{FF2B5EF4-FFF2-40B4-BE49-F238E27FC236}">
                <a16:creationId xmlns:a16="http://schemas.microsoft.com/office/drawing/2014/main" id="{540779AA-C6BD-3F29-85A9-C8AC5E5B30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92162"/>
          </a:xfrm>
        </p:spPr>
        <p:txBody>
          <a:bodyPr/>
          <a:lstStyle/>
          <a:p>
            <a:r>
              <a:rPr lang="es-ES" altLang="es-ES">
                <a:ea typeface="ＭＳ Ｐゴシック" panose="020B0600070205080204" pitchFamily="34" charset="-128"/>
              </a:rPr>
              <a:t>005 – Intérprete de comandos</a:t>
            </a:r>
          </a:p>
        </p:txBody>
      </p:sp>
      <p:sp>
        <p:nvSpPr>
          <p:cNvPr id="22531" name="Marcador de contenido 2">
            <a:extLst>
              <a:ext uri="{FF2B5EF4-FFF2-40B4-BE49-F238E27FC236}">
                <a16:creationId xmlns:a16="http://schemas.microsoft.com/office/drawing/2014/main" id="{9F6177B7-20A1-438D-BE0F-8ABA44AB0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6800"/>
            <a:ext cx="8458200" cy="5181600"/>
          </a:xfrm>
        </p:spPr>
        <p:txBody>
          <a:bodyPr/>
          <a:lstStyle/>
          <a:p>
            <a:pPr>
              <a:defRPr/>
            </a:pPr>
            <a:r>
              <a:rPr lang="es-ES_tradnl" altLang="es-ES" dirty="0">
                <a:ea typeface="ＭＳ Ｐゴシック" panose="020B0600070205080204" pitchFamily="34" charset="-128"/>
              </a:rPr>
              <a:t>Análisis de casos del intérprete:</a:t>
            </a:r>
          </a:p>
          <a:p>
            <a:pPr lvl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El intérprete de comandos será un procedimiento que recibe el comando.</a:t>
            </a:r>
          </a:p>
          <a:p>
            <a:pPr lvl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Analiza el caso y llama a la operación correspondiente.</a:t>
            </a:r>
          </a:p>
          <a:p>
            <a:pPr>
              <a:buFont typeface="Wingdings" panose="05000000000000000000" pitchFamily="2" charset="2"/>
              <a:buNone/>
              <a:defRPr/>
            </a:pPr>
            <a:endParaRPr lang="es-ES_tradnl" altLang="es-ES" sz="1100" dirty="0">
              <a:latin typeface="Lucida Console" panose="020B0609040504020204" pitchFamily="49" charset="0"/>
              <a:ea typeface="ＭＳ Ｐゴシック" panose="020B0600070205080204" pitchFamily="34" charset="-128"/>
            </a:endParaRPr>
          </a:p>
          <a:p>
            <a:pPr indent="-76200"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void</a:t>
            </a:r>
            <a:r>
              <a:rPr lang="es-ES_tradnl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s-ES_tradnl" altLang="es-ES" sz="2000" b="1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Interprete</a:t>
            </a:r>
            <a:r>
              <a:rPr lang="es-ES_tradnl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(</a:t>
            </a:r>
            <a:r>
              <a:rPr lang="es-ES_tradnl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string</a:t>
            </a:r>
            <a:r>
              <a:rPr lang="es-ES_tradnl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comando)</a:t>
            </a:r>
          </a:p>
          <a:p>
            <a:pPr indent="-76200">
              <a:buFont typeface="Wingdings" panose="05000000000000000000" pitchFamily="2" charset="2"/>
              <a:buNone/>
              <a:defRPr/>
            </a:pPr>
            <a:r>
              <a:rPr lang="es-ES_tradnl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{</a:t>
            </a:r>
          </a:p>
          <a:p>
            <a:pPr indent="-76200">
              <a:buFont typeface="Wingdings" panose="05000000000000000000" pitchFamily="2" charset="2"/>
              <a:buNone/>
              <a:defRPr/>
            </a:pP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if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(comando=="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pcuac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")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procesar_pcuac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();</a:t>
            </a:r>
          </a:p>
          <a:p>
            <a:pPr indent="-76200">
              <a:buFont typeface="Wingdings" panose="05000000000000000000" pitchFamily="2" charset="2"/>
              <a:buNone/>
              <a:defRPr/>
            </a:pP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else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if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(comando=="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mcuac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")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procesar_pcuac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();</a:t>
            </a:r>
          </a:p>
          <a:p>
            <a:pPr indent="-76200">
              <a:buFont typeface="Wingdings" panose="05000000000000000000" pitchFamily="2" charset="2"/>
              <a:buNone/>
              <a:defRPr/>
            </a:pP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else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if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(comando=="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last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") </a:t>
            </a:r>
            <a:r>
              <a:rPr lang="es-ES" altLang="es-ES" sz="20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procesar_last</a:t>
            </a: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();</a:t>
            </a:r>
          </a:p>
          <a:p>
            <a:pPr indent="-76200">
              <a:buFont typeface="Wingdings" panose="05000000000000000000" pitchFamily="2" charset="2"/>
              <a:buNone/>
              <a:defRPr/>
            </a:pPr>
            <a:r>
              <a:rPr lang="es-ES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...</a:t>
            </a:r>
          </a:p>
          <a:p>
            <a:pPr indent="-76200">
              <a:buFont typeface="Wingdings" panose="05000000000000000000" pitchFamily="2" charset="2"/>
              <a:buNone/>
              <a:defRPr/>
            </a:pPr>
            <a:r>
              <a:rPr lang="es-ES_tradnl" altLang="es-ES" sz="20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}</a:t>
            </a:r>
          </a:p>
        </p:txBody>
      </p:sp>
      <p:sp>
        <p:nvSpPr>
          <p:cNvPr id="26628" name="Marcador de número de diapositiva 3">
            <a:extLst>
              <a:ext uri="{FF2B5EF4-FFF2-40B4-BE49-F238E27FC236}">
                <a16:creationId xmlns:a16="http://schemas.microsoft.com/office/drawing/2014/main" id="{2AB3F89E-37A6-FF67-9EBC-82BE7C0E9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25C05EF1-FBF8-470D-AC5F-586DCF0A9FB9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s-ES" altLang="es-ES"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ítulo 1">
            <a:extLst>
              <a:ext uri="{FF2B5EF4-FFF2-40B4-BE49-F238E27FC236}">
                <a16:creationId xmlns:a16="http://schemas.microsoft.com/office/drawing/2014/main" id="{F7CDA870-25F7-0EB8-B001-F674E6233C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304800"/>
            <a:ext cx="7543800" cy="914400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006 – Diccionario de cuacs</a:t>
            </a:r>
            <a:br>
              <a:rPr lang="es-ES" altLang="es-ES" sz="3600">
                <a:ea typeface="ＭＳ Ｐゴシック" panose="020B0600070205080204" pitchFamily="34" charset="-128"/>
              </a:rPr>
            </a:br>
            <a:r>
              <a:rPr lang="es-ES" altLang="es-ES" sz="3600">
                <a:ea typeface="ＭＳ Ｐゴシック" panose="020B0600070205080204" pitchFamily="34" charset="-128"/>
              </a:rPr>
              <a:t>con listas</a:t>
            </a:r>
          </a:p>
        </p:txBody>
      </p:sp>
      <p:sp>
        <p:nvSpPr>
          <p:cNvPr id="27651" name="Marcador de contenido 2">
            <a:extLst>
              <a:ext uri="{FF2B5EF4-FFF2-40B4-BE49-F238E27FC236}">
                <a16:creationId xmlns:a16="http://schemas.microsoft.com/office/drawing/2014/main" id="{1DCAD45A-CF93-E33D-F1B0-D3F148B0D9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1295400"/>
            <a:ext cx="8763000" cy="4724400"/>
          </a:xfrm>
        </p:spPr>
        <p:txBody>
          <a:bodyPr/>
          <a:lstStyle/>
          <a:p>
            <a:r>
              <a:rPr lang="es-ES_tradnl" altLang="es-ES" sz="2800">
                <a:ea typeface="ＭＳ Ｐゴシック" panose="020B0600070205080204" pitchFamily="34" charset="-128"/>
              </a:rPr>
              <a:t>Añadir una clase </a:t>
            </a:r>
            <a:r>
              <a:rPr lang="es-ES_tradnl" altLang="es-ES" sz="2800" b="1">
                <a:ea typeface="ＭＳ Ｐゴシック" panose="020B0600070205080204" pitchFamily="34" charset="-128"/>
              </a:rPr>
              <a:t>diccionario de cuacs</a:t>
            </a:r>
            <a:r>
              <a:rPr lang="es-ES_tradnl" altLang="es-ES" sz="2800">
                <a:ea typeface="ＭＳ Ｐゴシック" panose="020B0600070205080204" pitchFamily="34" charset="-128"/>
              </a:rPr>
              <a:t>.</a:t>
            </a:r>
          </a:p>
          <a:p>
            <a:r>
              <a:rPr lang="es-ES_tradnl" altLang="es-ES" sz="2800">
                <a:ea typeface="ＭＳ Ｐゴシック" panose="020B0600070205080204" pitchFamily="34" charset="-128"/>
              </a:rPr>
              <a:t>Tendrá una implementación sencilla con listas de Cuac: el tipo </a:t>
            </a:r>
            <a:r>
              <a:rPr lang="es-ES_tradnl" altLang="es-ES" sz="2800" b="1">
                <a:ea typeface="ＭＳ Ｐゴシック" panose="020B0600070205080204" pitchFamily="34" charset="-128"/>
              </a:rPr>
              <a:t>list&lt;T&gt;</a:t>
            </a:r>
            <a:r>
              <a:rPr lang="es-ES_tradnl" altLang="es-ES" sz="2800">
                <a:ea typeface="ＭＳ Ｐゴシック" panose="020B0600070205080204" pitchFamily="34" charset="-128"/>
              </a:rPr>
              <a:t> de las STL de C++.</a:t>
            </a:r>
          </a:p>
          <a:p>
            <a:r>
              <a:rPr lang="es-ES_tradnl" altLang="es-ES" sz="2800">
                <a:ea typeface="ＭＳ Ｐゴシック" panose="020B0600070205080204" pitchFamily="34" charset="-128"/>
              </a:rPr>
              <a:t>¡No necesitamos tocar el intérprete de comandos! Solo las operaciones básicas del mismo:</a:t>
            </a:r>
          </a:p>
          <a:p>
            <a:pPr lvl="1"/>
            <a:r>
              <a:rPr lang="es-ES_tradnl" altLang="es-ES" b="1">
                <a:ea typeface="ＭＳ Ｐゴシック" panose="020B0600070205080204" pitchFamily="34" charset="-128"/>
              </a:rPr>
              <a:t>procesar_mcuac</a:t>
            </a:r>
            <a:r>
              <a:rPr lang="es-ES_tradnl" altLang="es-ES">
                <a:ea typeface="ＭＳ Ｐゴシック" panose="020B0600070205080204" pitchFamily="34" charset="-128"/>
              </a:rPr>
              <a:t> y </a:t>
            </a:r>
            <a:r>
              <a:rPr lang="es-ES_tradnl" altLang="es-ES" b="1">
                <a:ea typeface="ＭＳ Ｐゴシック" panose="020B0600070205080204" pitchFamily="34" charset="-128"/>
              </a:rPr>
              <a:t>procesar_pcuac</a:t>
            </a:r>
            <a:r>
              <a:rPr lang="es-ES_tradnl" altLang="es-ES">
                <a:ea typeface="ＭＳ Ｐゴシック" panose="020B0600070205080204" pitchFamily="34" charset="-128"/>
              </a:rPr>
              <a:t>: llaman al método </a:t>
            </a:r>
            <a:r>
              <a:rPr lang="es-ES_tradnl" altLang="es-ES" b="1">
                <a:ea typeface="ＭＳ Ｐゴシック" panose="020B0600070205080204" pitchFamily="34" charset="-128"/>
              </a:rPr>
              <a:t>insertar</a:t>
            </a:r>
            <a:r>
              <a:rPr lang="es-ES_tradnl" altLang="es-ES">
                <a:ea typeface="ＭＳ Ｐゴシック" panose="020B0600070205080204" pitchFamily="34" charset="-128"/>
              </a:rPr>
              <a:t> del diccionario.</a:t>
            </a:r>
          </a:p>
          <a:p>
            <a:pPr lvl="1"/>
            <a:r>
              <a:rPr lang="es-ES_tradnl" altLang="es-ES" b="1">
                <a:ea typeface="ＭＳ Ｐゴシック" panose="020B0600070205080204" pitchFamily="34" charset="-128"/>
              </a:rPr>
              <a:t>procesar_last</a:t>
            </a:r>
            <a:r>
              <a:rPr lang="es-ES_tradnl" altLang="es-ES">
                <a:ea typeface="ＭＳ Ｐゴシック" panose="020B0600070205080204" pitchFamily="34" charset="-128"/>
              </a:rPr>
              <a:t>: llama al método </a:t>
            </a:r>
            <a:r>
              <a:rPr lang="es-ES_tradnl" altLang="es-ES" b="1">
                <a:ea typeface="ＭＳ Ｐゴシック" panose="020B0600070205080204" pitchFamily="34" charset="-128"/>
              </a:rPr>
              <a:t>last</a:t>
            </a:r>
            <a:r>
              <a:rPr lang="es-ES_tradnl" altLang="es-ES">
                <a:ea typeface="ＭＳ Ｐゴシック" panose="020B0600070205080204" pitchFamily="34" charset="-128"/>
              </a:rPr>
              <a:t> del diccionario.</a:t>
            </a:r>
          </a:p>
          <a:p>
            <a:pPr lvl="1"/>
            <a:r>
              <a:rPr lang="es-ES_tradnl" altLang="es-ES" b="1">
                <a:ea typeface="ＭＳ Ｐゴシック" panose="020B0600070205080204" pitchFamily="34" charset="-128"/>
              </a:rPr>
              <a:t>procesar_follow</a:t>
            </a:r>
            <a:r>
              <a:rPr lang="es-ES_tradnl" altLang="es-ES">
                <a:ea typeface="ＭＳ Ｐゴシック" panose="020B0600070205080204" pitchFamily="34" charset="-128"/>
              </a:rPr>
              <a:t>: llama al método </a:t>
            </a:r>
            <a:r>
              <a:rPr lang="es-ES_tradnl" altLang="es-ES" b="1">
                <a:ea typeface="ＭＳ Ｐゴシック" panose="020B0600070205080204" pitchFamily="34" charset="-128"/>
              </a:rPr>
              <a:t>follow</a:t>
            </a:r>
            <a:r>
              <a:rPr lang="es-ES_tradnl" altLang="es-ES">
                <a:ea typeface="ＭＳ Ｐゴシック" panose="020B0600070205080204" pitchFamily="34" charset="-128"/>
              </a:rPr>
              <a:t> del dic.</a:t>
            </a:r>
          </a:p>
          <a:p>
            <a:pPr lvl="1"/>
            <a:r>
              <a:rPr lang="es-ES_tradnl" altLang="es-ES" b="1">
                <a:ea typeface="ＭＳ Ｐゴシック" panose="020B0600070205080204" pitchFamily="34" charset="-128"/>
              </a:rPr>
              <a:t>procesar_date</a:t>
            </a:r>
            <a:r>
              <a:rPr lang="es-ES_tradnl" altLang="es-ES">
                <a:ea typeface="ＭＳ Ｐゴシック" panose="020B0600070205080204" pitchFamily="34" charset="-128"/>
              </a:rPr>
              <a:t>: llama al método </a:t>
            </a:r>
            <a:r>
              <a:rPr lang="es-ES_tradnl" altLang="es-ES" b="1">
                <a:ea typeface="ＭＳ Ｐゴシック" panose="020B0600070205080204" pitchFamily="34" charset="-128"/>
              </a:rPr>
              <a:t>date</a:t>
            </a:r>
            <a:r>
              <a:rPr lang="es-ES_tradnl" altLang="es-ES">
                <a:ea typeface="ＭＳ Ｐゴシック" panose="020B0600070205080204" pitchFamily="34" charset="-128"/>
              </a:rPr>
              <a:t> del diccionario.</a:t>
            </a:r>
          </a:p>
        </p:txBody>
      </p:sp>
      <p:sp>
        <p:nvSpPr>
          <p:cNvPr id="27652" name="Marcador de número de diapositiva 3">
            <a:extLst>
              <a:ext uri="{FF2B5EF4-FFF2-40B4-BE49-F238E27FC236}">
                <a16:creationId xmlns:a16="http://schemas.microsoft.com/office/drawing/2014/main" id="{67E48865-D94C-BC36-8766-D0AB7F20B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6EEF6866-BB0C-4DBA-8E1F-6AF8AA7674AB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s-ES" altLang="es-E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19 Conector recto de flecha">
            <a:extLst>
              <a:ext uri="{FF2B5EF4-FFF2-40B4-BE49-F238E27FC236}">
                <a16:creationId xmlns:a16="http://schemas.microsoft.com/office/drawing/2014/main" id="{817ECA5A-7FA0-4E0E-B795-350010D8EB51}"/>
              </a:ext>
            </a:extLst>
          </p:cNvPr>
          <p:cNvCxnSpPr>
            <a:endCxn id="5" idx="1"/>
          </p:cNvCxnSpPr>
          <p:nvPr/>
        </p:nvCxnSpPr>
        <p:spPr>
          <a:xfrm rot="16200000" flipH="1">
            <a:off x="1271587" y="4424363"/>
            <a:ext cx="1343025" cy="990600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31 Rectángulo">
            <a:extLst>
              <a:ext uri="{FF2B5EF4-FFF2-40B4-BE49-F238E27FC236}">
                <a16:creationId xmlns:a16="http://schemas.microsoft.com/office/drawing/2014/main" id="{0CADEA9D-B23D-4060-B3CC-53AEE00E0E93}"/>
              </a:ext>
            </a:extLst>
          </p:cNvPr>
          <p:cNvSpPr/>
          <p:nvPr/>
        </p:nvSpPr>
        <p:spPr>
          <a:xfrm>
            <a:off x="1196975" y="1779588"/>
            <a:ext cx="4343400" cy="6096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  <a:effectLst>
            <a:outerShdw blurRad="50800" dist="1397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179388" eaLnBrk="1" hangingPunct="1">
              <a:defRPr/>
            </a:pPr>
            <a:r>
              <a:rPr lang="es-ES_tradnl" sz="2400" b="1" dirty="0" err="1">
                <a:solidFill>
                  <a:schemeClr val="tx1"/>
                </a:solidFill>
              </a:rPr>
              <a:t>class</a:t>
            </a:r>
            <a:r>
              <a:rPr lang="es-ES_tradnl" sz="2400" b="1" dirty="0">
                <a:solidFill>
                  <a:schemeClr val="tx1"/>
                </a:solidFill>
              </a:rPr>
              <a:t> </a:t>
            </a:r>
            <a:r>
              <a:rPr lang="es-ES_tradnl" sz="2400" b="1" dirty="0" err="1">
                <a:solidFill>
                  <a:schemeClr val="tx1"/>
                </a:solidFill>
              </a:rPr>
              <a:t>DiccionarioCuacs</a:t>
            </a:r>
            <a:endParaRPr lang="es-ES_tradnl" sz="2400" b="1" dirty="0">
              <a:solidFill>
                <a:schemeClr val="tx1"/>
              </a:solidFill>
            </a:endParaRPr>
          </a:p>
        </p:txBody>
      </p:sp>
      <p:sp>
        <p:nvSpPr>
          <p:cNvPr id="28676" name="Título 1">
            <a:extLst>
              <a:ext uri="{FF2B5EF4-FFF2-40B4-BE49-F238E27FC236}">
                <a16:creationId xmlns:a16="http://schemas.microsoft.com/office/drawing/2014/main" id="{E356A411-6829-F51F-A45A-572A4A70B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006 – Diccionario de cuacs</a:t>
            </a:r>
            <a:br>
              <a:rPr lang="es-ES" altLang="es-ES" sz="3600">
                <a:ea typeface="ＭＳ Ｐゴシック" panose="020B0600070205080204" pitchFamily="34" charset="-128"/>
              </a:rPr>
            </a:br>
            <a:r>
              <a:rPr lang="es-ES" altLang="es-ES" sz="3600">
                <a:ea typeface="ＭＳ Ｐゴシック" panose="020B0600070205080204" pitchFamily="34" charset="-128"/>
              </a:rPr>
              <a:t>con listas</a:t>
            </a:r>
          </a:p>
        </p:txBody>
      </p:sp>
      <p:sp>
        <p:nvSpPr>
          <p:cNvPr id="28677" name="Marcador de contenido 2">
            <a:extLst>
              <a:ext uri="{FF2B5EF4-FFF2-40B4-BE49-F238E27FC236}">
                <a16:creationId xmlns:a16="http://schemas.microsoft.com/office/drawing/2014/main" id="{5BC14957-9FF6-CFF6-7E94-9DEBBB213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219200"/>
            <a:ext cx="8458200" cy="685800"/>
          </a:xfrm>
        </p:spPr>
        <p:txBody>
          <a:bodyPr/>
          <a:lstStyle/>
          <a:p>
            <a:r>
              <a:rPr lang="es-ES_tradnl" altLang="es-ES" sz="2800">
                <a:ea typeface="ＭＳ Ｐゴシック" panose="020B0600070205080204" pitchFamily="34" charset="-128"/>
              </a:rPr>
              <a:t>El diccionario de cuacs.</a:t>
            </a:r>
          </a:p>
        </p:txBody>
      </p:sp>
      <p:sp>
        <p:nvSpPr>
          <p:cNvPr id="28678" name="Marcador de número de diapositiva 3">
            <a:extLst>
              <a:ext uri="{FF2B5EF4-FFF2-40B4-BE49-F238E27FC236}">
                <a16:creationId xmlns:a16="http://schemas.microsoft.com/office/drawing/2014/main" id="{DDC724CA-95F6-7516-2FD0-7369A2B4D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A921B8A7-6221-4CBA-9A1C-A3596F7EA155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s-ES" altLang="es-ES" sz="1000"/>
          </a:p>
        </p:txBody>
      </p:sp>
      <p:sp>
        <p:nvSpPr>
          <p:cNvPr id="2" name="1 Rectángulo">
            <a:extLst>
              <a:ext uri="{FF2B5EF4-FFF2-40B4-BE49-F238E27FC236}">
                <a16:creationId xmlns:a16="http://schemas.microsoft.com/office/drawing/2014/main" id="{A3E2470B-EA01-4283-94E0-28F68230A969}"/>
              </a:ext>
            </a:extLst>
          </p:cNvPr>
          <p:cNvSpPr/>
          <p:nvPr/>
        </p:nvSpPr>
        <p:spPr>
          <a:xfrm>
            <a:off x="1196975" y="2389188"/>
            <a:ext cx="4343400" cy="1878012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  <a:effectLst>
            <a:outerShdw blurRad="50800" dist="1397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285750" indent="-285750" eaLnBrk="1" hangingPunct="1">
              <a:buFontTx/>
              <a:buChar char="-"/>
              <a:defRPr/>
            </a:pPr>
            <a:r>
              <a:rPr lang="es-ES" sz="2000" dirty="0">
                <a:solidFill>
                  <a:schemeClr val="tx1"/>
                </a:solidFill>
              </a:rPr>
              <a:t>insertar (</a:t>
            </a:r>
            <a:r>
              <a:rPr lang="es-ES" sz="2000" dirty="0" err="1">
                <a:solidFill>
                  <a:schemeClr val="tx1"/>
                </a:solidFill>
              </a:rPr>
              <a:t>Cuac</a:t>
            </a:r>
            <a:r>
              <a:rPr lang="es-ES" sz="2000" dirty="0">
                <a:solidFill>
                  <a:schemeClr val="tx1"/>
                </a:solidFill>
              </a:rPr>
              <a:t> nuevo)</a:t>
            </a:r>
          </a:p>
          <a:p>
            <a:pPr marL="285750" indent="-285750" eaLnBrk="1" hangingPunct="1">
              <a:buFontTx/>
              <a:buChar char="-"/>
              <a:defRPr/>
            </a:pPr>
            <a:r>
              <a:rPr lang="es-ES" sz="2000" dirty="0" err="1">
                <a:solidFill>
                  <a:schemeClr val="tx1"/>
                </a:solidFill>
              </a:rPr>
              <a:t>last</a:t>
            </a:r>
            <a:r>
              <a:rPr lang="es-ES" sz="2000" dirty="0">
                <a:solidFill>
                  <a:schemeClr val="tx1"/>
                </a:solidFill>
              </a:rPr>
              <a:t> (</a:t>
            </a:r>
            <a:r>
              <a:rPr lang="es-ES" sz="2000" dirty="0" err="1">
                <a:solidFill>
                  <a:schemeClr val="tx1"/>
                </a:solidFill>
              </a:rPr>
              <a:t>int</a:t>
            </a:r>
            <a:r>
              <a:rPr lang="es-ES" sz="2000" dirty="0">
                <a:solidFill>
                  <a:schemeClr val="tx1"/>
                </a:solidFill>
              </a:rPr>
              <a:t> N)</a:t>
            </a:r>
          </a:p>
          <a:p>
            <a:pPr marL="285750" indent="-285750" eaLnBrk="1" hangingPunct="1">
              <a:buFontTx/>
              <a:buChar char="-"/>
              <a:defRPr/>
            </a:pPr>
            <a:r>
              <a:rPr lang="es-ES" sz="2000" dirty="0" err="1">
                <a:solidFill>
                  <a:schemeClr val="tx1"/>
                </a:solidFill>
              </a:rPr>
              <a:t>follow</a:t>
            </a:r>
            <a:r>
              <a:rPr lang="es-ES" sz="2000" dirty="0">
                <a:solidFill>
                  <a:schemeClr val="tx1"/>
                </a:solidFill>
              </a:rPr>
              <a:t> (</a:t>
            </a:r>
            <a:r>
              <a:rPr lang="es-ES" sz="2000" dirty="0" err="1">
                <a:solidFill>
                  <a:schemeClr val="tx1"/>
                </a:solidFill>
              </a:rPr>
              <a:t>string</a:t>
            </a:r>
            <a:r>
              <a:rPr lang="es-ES" sz="2000" dirty="0">
                <a:solidFill>
                  <a:schemeClr val="tx1"/>
                </a:solidFill>
              </a:rPr>
              <a:t> nombre)</a:t>
            </a:r>
          </a:p>
          <a:p>
            <a:pPr marL="285750" indent="-285750" eaLnBrk="1" hangingPunct="1">
              <a:buFontTx/>
              <a:buChar char="-"/>
              <a:defRPr/>
            </a:pPr>
            <a:r>
              <a:rPr lang="es-ES" sz="2000" dirty="0">
                <a:solidFill>
                  <a:schemeClr val="tx1"/>
                </a:solidFill>
              </a:rPr>
              <a:t>date (Fecha f1, Fecha f2)</a:t>
            </a:r>
          </a:p>
          <a:p>
            <a:pPr marL="285750" indent="-285750" eaLnBrk="1" hangingPunct="1">
              <a:buFontTx/>
              <a:buChar char="-"/>
              <a:defRPr/>
            </a:pPr>
            <a:endParaRPr lang="es-ES" sz="1100" dirty="0">
              <a:solidFill>
                <a:schemeClr val="tx1"/>
              </a:solidFill>
            </a:endParaRPr>
          </a:p>
          <a:p>
            <a:pPr eaLnBrk="1" hangingPunct="1">
              <a:defRPr/>
            </a:pPr>
            <a:r>
              <a:rPr lang="es-ES" sz="2000" dirty="0" err="1">
                <a:solidFill>
                  <a:schemeClr val="tx1"/>
                </a:solidFill>
              </a:rPr>
              <a:t>list</a:t>
            </a:r>
            <a:r>
              <a:rPr lang="es-ES" sz="2000" dirty="0">
                <a:solidFill>
                  <a:schemeClr val="tx1"/>
                </a:solidFill>
              </a:rPr>
              <a:t>&lt;</a:t>
            </a:r>
            <a:r>
              <a:rPr lang="es-ES" sz="2000" dirty="0" err="1">
                <a:solidFill>
                  <a:schemeClr val="tx1"/>
                </a:solidFill>
              </a:rPr>
              <a:t>Cuac</a:t>
            </a:r>
            <a:r>
              <a:rPr lang="es-ES" sz="2000" dirty="0">
                <a:solidFill>
                  <a:schemeClr val="tx1"/>
                </a:solidFill>
              </a:rPr>
              <a:t>&gt; lista</a:t>
            </a:r>
            <a:endParaRPr lang="es-ES_tradnl" sz="2000" dirty="0">
              <a:solidFill>
                <a:schemeClr val="tx1"/>
              </a:solidFill>
            </a:endParaRPr>
          </a:p>
        </p:txBody>
      </p:sp>
      <p:sp>
        <p:nvSpPr>
          <p:cNvPr id="5" name="4 Rectángulo">
            <a:extLst>
              <a:ext uri="{FF2B5EF4-FFF2-40B4-BE49-F238E27FC236}">
                <a16:creationId xmlns:a16="http://schemas.microsoft.com/office/drawing/2014/main" id="{048440AE-C748-407D-99A1-19E204703754}"/>
              </a:ext>
            </a:extLst>
          </p:cNvPr>
          <p:cNvSpPr/>
          <p:nvPr/>
        </p:nvSpPr>
        <p:spPr>
          <a:xfrm>
            <a:off x="2438400" y="4857750"/>
            <a:ext cx="1676400" cy="1466850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  <a:effectLst>
            <a:outerShdw blurRad="50800" dist="1143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/>
          </a:p>
        </p:txBody>
      </p:sp>
      <p:sp>
        <p:nvSpPr>
          <p:cNvPr id="9" name="8 Rectángulo">
            <a:extLst>
              <a:ext uri="{FF2B5EF4-FFF2-40B4-BE49-F238E27FC236}">
                <a16:creationId xmlns:a16="http://schemas.microsoft.com/office/drawing/2014/main" id="{0839E2E4-54CF-4D13-B77A-B581E678600A}"/>
              </a:ext>
            </a:extLst>
          </p:cNvPr>
          <p:cNvSpPr/>
          <p:nvPr/>
        </p:nvSpPr>
        <p:spPr>
          <a:xfrm>
            <a:off x="2590800" y="5010150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nombre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11" name="10 Rectángulo">
            <a:extLst>
              <a:ext uri="{FF2B5EF4-FFF2-40B4-BE49-F238E27FC236}">
                <a16:creationId xmlns:a16="http://schemas.microsoft.com/office/drawing/2014/main" id="{95150B74-C784-4B46-A1B1-46438CABBBDE}"/>
              </a:ext>
            </a:extLst>
          </p:cNvPr>
          <p:cNvSpPr/>
          <p:nvPr/>
        </p:nvSpPr>
        <p:spPr>
          <a:xfrm>
            <a:off x="4648200" y="4857750"/>
            <a:ext cx="1676400" cy="1466850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  <a:effectLst>
            <a:outerShdw blurRad="50800" dist="1143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/>
          </a:p>
        </p:txBody>
      </p:sp>
      <p:sp>
        <p:nvSpPr>
          <p:cNvPr id="14" name="13 Rectángulo">
            <a:extLst>
              <a:ext uri="{FF2B5EF4-FFF2-40B4-BE49-F238E27FC236}">
                <a16:creationId xmlns:a16="http://schemas.microsoft.com/office/drawing/2014/main" id="{7AEC9E8C-C1BA-4024-9069-5B1418F1C803}"/>
              </a:ext>
            </a:extLst>
          </p:cNvPr>
          <p:cNvSpPr/>
          <p:nvPr/>
        </p:nvSpPr>
        <p:spPr>
          <a:xfrm>
            <a:off x="6858000" y="4857750"/>
            <a:ext cx="1676400" cy="1466850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  <a:effectLst>
            <a:outerShdw blurRad="50800" dist="1143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/>
          </a:p>
        </p:txBody>
      </p:sp>
      <p:cxnSp>
        <p:nvCxnSpPr>
          <p:cNvPr id="7" name="6 Conector recto de flecha">
            <a:extLst>
              <a:ext uri="{FF2B5EF4-FFF2-40B4-BE49-F238E27FC236}">
                <a16:creationId xmlns:a16="http://schemas.microsoft.com/office/drawing/2014/main" id="{054A77A2-F175-4216-8674-1B09EACE32FE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4114800" y="5591175"/>
            <a:ext cx="53340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 de flecha">
            <a:extLst>
              <a:ext uri="{FF2B5EF4-FFF2-40B4-BE49-F238E27FC236}">
                <a16:creationId xmlns:a16="http://schemas.microsoft.com/office/drawing/2014/main" id="{ACFC7CE4-07DE-4045-8B08-E11D667F5747}"/>
              </a:ext>
            </a:extLst>
          </p:cNvPr>
          <p:cNvCxnSpPr/>
          <p:nvPr/>
        </p:nvCxnSpPr>
        <p:spPr>
          <a:xfrm>
            <a:off x="6324600" y="5549900"/>
            <a:ext cx="53340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20 Rectángulo">
            <a:extLst>
              <a:ext uri="{FF2B5EF4-FFF2-40B4-BE49-F238E27FC236}">
                <a16:creationId xmlns:a16="http://schemas.microsoft.com/office/drawing/2014/main" id="{B9A96759-F0A8-448B-A44E-E79F7F36BC3C}"/>
              </a:ext>
            </a:extLst>
          </p:cNvPr>
          <p:cNvSpPr/>
          <p:nvPr/>
        </p:nvSpPr>
        <p:spPr>
          <a:xfrm>
            <a:off x="2590800" y="5400675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fecha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22" name="21 Rectángulo">
            <a:extLst>
              <a:ext uri="{FF2B5EF4-FFF2-40B4-BE49-F238E27FC236}">
                <a16:creationId xmlns:a16="http://schemas.microsoft.com/office/drawing/2014/main" id="{21167EC6-9A82-4EEF-B825-DC1E64C469DA}"/>
              </a:ext>
            </a:extLst>
          </p:cNvPr>
          <p:cNvSpPr/>
          <p:nvPr/>
        </p:nvSpPr>
        <p:spPr>
          <a:xfrm>
            <a:off x="2590800" y="5791200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mensaje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26" name="25 Rectángulo">
            <a:extLst>
              <a:ext uri="{FF2B5EF4-FFF2-40B4-BE49-F238E27FC236}">
                <a16:creationId xmlns:a16="http://schemas.microsoft.com/office/drawing/2014/main" id="{AAA3D5A2-B0D7-4B0E-9070-55ED6AF2D930}"/>
              </a:ext>
            </a:extLst>
          </p:cNvPr>
          <p:cNvSpPr/>
          <p:nvPr/>
        </p:nvSpPr>
        <p:spPr>
          <a:xfrm>
            <a:off x="4781550" y="5010150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nombre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27" name="26 Rectángulo">
            <a:extLst>
              <a:ext uri="{FF2B5EF4-FFF2-40B4-BE49-F238E27FC236}">
                <a16:creationId xmlns:a16="http://schemas.microsoft.com/office/drawing/2014/main" id="{6E311276-5903-4162-88F7-1C5B88A1CB85}"/>
              </a:ext>
            </a:extLst>
          </p:cNvPr>
          <p:cNvSpPr/>
          <p:nvPr/>
        </p:nvSpPr>
        <p:spPr>
          <a:xfrm>
            <a:off x="4781550" y="5400675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fecha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28" name="27 Rectángulo">
            <a:extLst>
              <a:ext uri="{FF2B5EF4-FFF2-40B4-BE49-F238E27FC236}">
                <a16:creationId xmlns:a16="http://schemas.microsoft.com/office/drawing/2014/main" id="{05ABA8D7-D10D-4BCA-B449-A05F4F48F529}"/>
              </a:ext>
            </a:extLst>
          </p:cNvPr>
          <p:cNvSpPr/>
          <p:nvPr/>
        </p:nvSpPr>
        <p:spPr>
          <a:xfrm>
            <a:off x="4781550" y="5791200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mensaje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29" name="28 Rectángulo">
            <a:extLst>
              <a:ext uri="{FF2B5EF4-FFF2-40B4-BE49-F238E27FC236}">
                <a16:creationId xmlns:a16="http://schemas.microsoft.com/office/drawing/2014/main" id="{A8CC9449-5C3A-46AF-AE7B-95097C409380}"/>
              </a:ext>
            </a:extLst>
          </p:cNvPr>
          <p:cNvSpPr/>
          <p:nvPr/>
        </p:nvSpPr>
        <p:spPr>
          <a:xfrm>
            <a:off x="6991350" y="4997450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nombre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30" name="29 Rectángulo">
            <a:extLst>
              <a:ext uri="{FF2B5EF4-FFF2-40B4-BE49-F238E27FC236}">
                <a16:creationId xmlns:a16="http://schemas.microsoft.com/office/drawing/2014/main" id="{809D6DE4-D223-4C29-AF9F-F33B48601601}"/>
              </a:ext>
            </a:extLst>
          </p:cNvPr>
          <p:cNvSpPr/>
          <p:nvPr/>
        </p:nvSpPr>
        <p:spPr>
          <a:xfrm>
            <a:off x="6991350" y="5387975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fecha</a:t>
            </a:r>
            <a:endParaRPr lang="es-ES_tradnl" dirty="0">
              <a:solidFill>
                <a:schemeClr val="tx1"/>
              </a:solidFill>
            </a:endParaRPr>
          </a:p>
        </p:txBody>
      </p:sp>
      <p:sp>
        <p:nvSpPr>
          <p:cNvPr id="31" name="30 Rectángulo">
            <a:extLst>
              <a:ext uri="{FF2B5EF4-FFF2-40B4-BE49-F238E27FC236}">
                <a16:creationId xmlns:a16="http://schemas.microsoft.com/office/drawing/2014/main" id="{AC16EA1A-435E-46C8-91AC-999EB089E34B}"/>
              </a:ext>
            </a:extLst>
          </p:cNvPr>
          <p:cNvSpPr/>
          <p:nvPr/>
        </p:nvSpPr>
        <p:spPr>
          <a:xfrm>
            <a:off x="6991350" y="5778500"/>
            <a:ext cx="1409700" cy="419100"/>
          </a:xfrm>
          <a:prstGeom prst="rect">
            <a:avLst/>
          </a:prstGeom>
          <a:solidFill>
            <a:srgbClr val="47C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dirty="0">
                <a:solidFill>
                  <a:schemeClr val="tx1"/>
                </a:solidFill>
              </a:rPr>
              <a:t>mensaje</a:t>
            </a:r>
            <a:endParaRPr lang="es-ES_trad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ítulo 1">
            <a:extLst>
              <a:ext uri="{FF2B5EF4-FFF2-40B4-BE49-F238E27FC236}">
                <a16:creationId xmlns:a16="http://schemas.microsoft.com/office/drawing/2014/main" id="{7EC2D496-66D4-D223-DF5D-AB292C9283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006 – Diccionario de cuacs</a:t>
            </a:r>
            <a:br>
              <a:rPr lang="es-ES" altLang="es-ES" sz="3600">
                <a:ea typeface="ＭＳ Ｐゴシック" panose="020B0600070205080204" pitchFamily="34" charset="-128"/>
              </a:rPr>
            </a:br>
            <a:r>
              <a:rPr lang="es-ES" altLang="es-ES" sz="3600">
                <a:ea typeface="ＭＳ Ｐゴシック" panose="020B0600070205080204" pitchFamily="34" charset="-128"/>
              </a:rPr>
              <a:t>con listas</a:t>
            </a:r>
          </a:p>
        </p:txBody>
      </p:sp>
      <p:sp>
        <p:nvSpPr>
          <p:cNvPr id="29699" name="Marcador de número de diapositiva 3">
            <a:extLst>
              <a:ext uri="{FF2B5EF4-FFF2-40B4-BE49-F238E27FC236}">
                <a16:creationId xmlns:a16="http://schemas.microsoft.com/office/drawing/2014/main" id="{C861F4B2-3E48-63DF-84E0-B5FFCE498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4F7BC96-2D7D-4C3A-997B-F45609FDAB21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EAA13887-BFC9-4127-AB0E-A769FE97FD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0" y="1446213"/>
            <a:ext cx="3200400" cy="163195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2000" b="1" dirty="0">
                <a:solidFill>
                  <a:srgbClr val="000000"/>
                </a:solidFill>
              </a:rPr>
              <a:t>Ojo</a:t>
            </a:r>
            <a:r>
              <a:rPr lang="es-ES" sz="2000" dirty="0">
                <a:solidFill>
                  <a:srgbClr val="000000"/>
                </a:solidFill>
              </a:rPr>
              <a:t>: Como no se usa memoria dinámica (no aparecen punteros) no se necesita reservar memoria ni definir un destructor.</a:t>
            </a:r>
          </a:p>
        </p:txBody>
      </p:sp>
      <p:sp>
        <p:nvSpPr>
          <p:cNvPr id="29701" name="1 Rectángulo">
            <a:extLst>
              <a:ext uri="{FF2B5EF4-FFF2-40B4-BE49-F238E27FC236}">
                <a16:creationId xmlns:a16="http://schemas.microsoft.com/office/drawing/2014/main" id="{A8A0C223-7CFD-E585-C1B6-864F44C962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84325"/>
            <a:ext cx="5791200" cy="4402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</a:rPr>
              <a:t>class</a:t>
            </a:r>
            <a:r>
              <a:rPr lang="es-ES_tradnl" altLang="es-ES" sz="2000">
                <a:latin typeface="Lucida Console" panose="020B0609040504020204" pitchFamily="49" charset="0"/>
              </a:rPr>
              <a:t> DiccionarioCuacs {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   </a:t>
            </a:r>
            <a:r>
              <a:rPr lang="es-ES_tradnl" altLang="es-ES" sz="2000" b="1">
                <a:latin typeface="Lucida Console" panose="020B0609040504020204" pitchFamily="49" charset="0"/>
              </a:rPr>
              <a:t>private</a:t>
            </a:r>
            <a:r>
              <a:rPr lang="es-ES_tradnl" altLang="es-ES" sz="2000">
                <a:latin typeface="Lucida Console" panose="020B0609040504020204" pitchFamily="49" charset="0"/>
              </a:rPr>
              <a:t>: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     list&lt;Cuac&gt; lista;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     </a:t>
            </a:r>
            <a:r>
              <a:rPr lang="es-ES_tradnl" altLang="es-ES" sz="2000" b="1">
                <a:latin typeface="Lucida Console" panose="020B0609040504020204" pitchFamily="49" charset="0"/>
              </a:rPr>
              <a:t>int</a:t>
            </a:r>
            <a:r>
              <a:rPr lang="es-ES_tradnl" altLang="es-ES" sz="2000">
                <a:latin typeface="Lucida Console" panose="020B0609040504020204" pitchFamily="49" charset="0"/>
              </a:rPr>
              <a:t> contador;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   </a:t>
            </a:r>
            <a:r>
              <a:rPr lang="es-ES_tradnl" altLang="es-ES" sz="2000" b="1">
                <a:latin typeface="Lucida Console" panose="020B0609040504020204" pitchFamily="49" charset="0"/>
              </a:rPr>
              <a:t>public</a:t>
            </a:r>
            <a:r>
              <a:rPr lang="es-ES_tradnl" altLang="es-ES" sz="2000">
                <a:latin typeface="Lucida Console" panose="020B0609040504020204" pitchFamily="49" charset="0"/>
              </a:rPr>
              <a:t>: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     DiccionarioCuacs ();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</a:rPr>
              <a:t>     void</a:t>
            </a:r>
            <a:r>
              <a:rPr lang="es-ES_tradnl" altLang="es-ES" sz="2000">
                <a:latin typeface="Lucida Console" panose="020B0609040504020204" pitchFamily="49" charset="0"/>
              </a:rPr>
              <a:t> insertar (Cuac nuevo);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</a:rPr>
              <a:t>     void</a:t>
            </a:r>
            <a:r>
              <a:rPr lang="es-ES_tradnl" altLang="es-ES" sz="2000">
                <a:latin typeface="Lucida Console" panose="020B0609040504020204" pitchFamily="49" charset="0"/>
              </a:rPr>
              <a:t> </a:t>
            </a:r>
            <a:r>
              <a:rPr lang="en-US" altLang="es-ES" sz="2000">
                <a:latin typeface="Lucida Console" panose="020B0609040504020204" pitchFamily="49" charset="0"/>
              </a:rPr>
              <a:t>last (int N);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</a:rPr>
              <a:t>     void</a:t>
            </a:r>
            <a:r>
              <a:rPr lang="es-ES_tradnl" altLang="es-ES" sz="2000">
                <a:latin typeface="Lucida Console" panose="020B0609040504020204" pitchFamily="49" charset="0"/>
              </a:rPr>
              <a:t> </a:t>
            </a:r>
            <a:r>
              <a:rPr lang="en-US" altLang="es-ES" sz="2000">
                <a:latin typeface="Lucida Console" panose="020B0609040504020204" pitchFamily="49" charset="0"/>
              </a:rPr>
              <a:t>follow (string nombre);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</a:rPr>
              <a:t>     void</a:t>
            </a:r>
            <a:r>
              <a:rPr lang="es-ES_tradnl" altLang="es-ES" sz="2000">
                <a:latin typeface="Lucida Console" panose="020B0609040504020204" pitchFamily="49" charset="0"/>
              </a:rPr>
              <a:t> </a:t>
            </a:r>
            <a:r>
              <a:rPr lang="en-US" altLang="es-ES" sz="2000">
                <a:latin typeface="Lucida Console" panose="020B0609040504020204" pitchFamily="49" charset="0"/>
              </a:rPr>
              <a:t>date (Fecha f1, Fecha f2);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     </a:t>
            </a:r>
            <a:r>
              <a:rPr lang="es-ES_tradnl" altLang="es-ES" sz="2000" b="1">
                <a:latin typeface="Lucida Console" panose="020B0609040504020204" pitchFamily="49" charset="0"/>
              </a:rPr>
              <a:t>int</a:t>
            </a:r>
            <a:r>
              <a:rPr lang="es-ES_tradnl" altLang="es-ES" sz="2000">
                <a:latin typeface="Lucida Console" panose="020B0609040504020204" pitchFamily="49" charset="0"/>
              </a:rPr>
              <a:t> numElem ()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        {</a:t>
            </a:r>
            <a:r>
              <a:rPr lang="es-ES_tradnl" altLang="es-ES" sz="2000" b="1">
                <a:latin typeface="Lucida Console" panose="020B0609040504020204" pitchFamily="49" charset="0"/>
              </a:rPr>
              <a:t>return</a:t>
            </a:r>
            <a:r>
              <a:rPr lang="es-ES_tradnl" altLang="es-ES" sz="2000">
                <a:latin typeface="Lucida Console" panose="020B0609040504020204" pitchFamily="49" charset="0"/>
              </a:rPr>
              <a:t> contador;}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</a:rPr>
              <a:t>};</a:t>
            </a:r>
            <a:endParaRPr lang="es-ES_tradnl" altLang="es-ES" sz="2800"/>
          </a:p>
        </p:txBody>
      </p:sp>
      <p:sp>
        <p:nvSpPr>
          <p:cNvPr id="9" name="CuadroTexto 5">
            <a:extLst>
              <a:ext uri="{FF2B5EF4-FFF2-40B4-BE49-F238E27FC236}">
                <a16:creationId xmlns:a16="http://schemas.microsoft.com/office/drawing/2014/main" id="{721410AA-C41F-4E20-AB38-B74F7D61C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1800" y="3779838"/>
            <a:ext cx="2133600" cy="1938337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2000" dirty="0">
                <a:solidFill>
                  <a:srgbClr val="000000"/>
                </a:solidFill>
              </a:rPr>
              <a:t>Para simplificar suponemos que las operaciones escriben directamente el resultado.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ítulo 1">
            <a:extLst>
              <a:ext uri="{FF2B5EF4-FFF2-40B4-BE49-F238E27FC236}">
                <a16:creationId xmlns:a16="http://schemas.microsoft.com/office/drawing/2014/main" id="{781A6984-DE2F-4823-7AEC-2AE6F43ACA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006 – Diccionario de cuacs</a:t>
            </a:r>
            <a:br>
              <a:rPr lang="es-ES" altLang="es-ES" sz="3600">
                <a:ea typeface="ＭＳ Ｐゴシック" panose="020B0600070205080204" pitchFamily="34" charset="-128"/>
              </a:rPr>
            </a:br>
            <a:r>
              <a:rPr lang="es-ES" altLang="es-ES" sz="3600">
                <a:ea typeface="ＭＳ Ｐゴシック" panose="020B0600070205080204" pitchFamily="34" charset="-128"/>
              </a:rPr>
              <a:t>con listas</a:t>
            </a:r>
          </a:p>
        </p:txBody>
      </p:sp>
      <p:sp>
        <p:nvSpPr>
          <p:cNvPr id="18435" name="Marcador de contenido 2">
            <a:extLst>
              <a:ext uri="{FF2B5EF4-FFF2-40B4-BE49-F238E27FC236}">
                <a16:creationId xmlns:a16="http://schemas.microsoft.com/office/drawing/2014/main" id="{91595D8D-E459-4300-B731-539AED3F2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458200" cy="5410200"/>
          </a:xfrm>
        </p:spPr>
        <p:txBody>
          <a:bodyPr/>
          <a:lstStyle/>
          <a:p>
            <a:pPr>
              <a:defRPr/>
            </a:pPr>
            <a:r>
              <a:rPr lang="es-ES_tradnl" altLang="es-ES" sz="2800" dirty="0">
                <a:ea typeface="ＭＳ Ｐゴシック" pitchFamily="34" charset="-128"/>
              </a:rPr>
              <a:t>El conjunto será un objeto de esa clase:</a:t>
            </a:r>
          </a:p>
          <a:p>
            <a:pPr marL="0" indent="0">
              <a:buFont typeface="Wingdings" panose="05000000000000000000" pitchFamily="2" charset="2"/>
              <a:buNone/>
              <a:defRPr/>
            </a:pPr>
            <a:r>
              <a:rPr lang="es-ES_tradnl" altLang="es-ES" sz="2400" dirty="0" err="1">
                <a:latin typeface="Verdana" pitchFamily="34" charset="0"/>
                <a:ea typeface="Verdana" pitchFamily="34" charset="0"/>
                <a:cs typeface="Verdana" pitchFamily="34" charset="0"/>
              </a:rPr>
              <a:t>DiccionarioCuacs</a:t>
            </a:r>
            <a:r>
              <a:rPr lang="es-ES_tradnl" altLang="es-ES" sz="2400" dirty="0">
                <a:latin typeface="Verdana" pitchFamily="34" charset="0"/>
                <a:ea typeface="Verdana" pitchFamily="34" charset="0"/>
                <a:cs typeface="Verdana" pitchFamily="34" charset="0"/>
              </a:rPr>
              <a:t> dic;</a:t>
            </a:r>
          </a:p>
          <a:p>
            <a:pPr>
              <a:defRPr/>
            </a:pPr>
            <a:r>
              <a:rPr lang="es-ES_tradnl" altLang="es-ES" sz="2800" dirty="0">
                <a:ea typeface="ＭＳ Ｐゴシック" pitchFamily="34" charset="-128"/>
              </a:rPr>
              <a:t>¿Dónde definir este objeto?</a:t>
            </a:r>
          </a:p>
          <a:p>
            <a:pPr lvl="1">
              <a:defRPr/>
            </a:pPr>
            <a:r>
              <a:rPr lang="es-ES_tradnl" altLang="es-ES" sz="2400" dirty="0">
                <a:ea typeface="ＭＳ Ｐゴシック" pitchFamily="34" charset="-128"/>
              </a:rPr>
              <a:t>Como una variable global a la</a:t>
            </a:r>
            <a:br>
              <a:rPr lang="es-ES_tradnl" altLang="es-ES" sz="2400" dirty="0">
                <a:ea typeface="ＭＳ Ｐゴシック" pitchFamily="34" charset="-128"/>
              </a:rPr>
            </a:br>
            <a:r>
              <a:rPr lang="es-ES_tradnl" altLang="es-ES" sz="2400" dirty="0">
                <a:ea typeface="ＭＳ Ｐゴシック" pitchFamily="34" charset="-128"/>
              </a:rPr>
              <a:t>que tiene acceso el intérprete.</a:t>
            </a:r>
          </a:p>
          <a:p>
            <a:pPr lvl="1">
              <a:defRPr/>
            </a:pPr>
            <a:r>
              <a:rPr lang="es-ES_tradnl" altLang="es-ES" sz="2400" dirty="0">
                <a:ea typeface="ＭＳ Ｐゴシック" pitchFamily="34" charset="-128"/>
              </a:rPr>
              <a:t>O como una variable local del</a:t>
            </a:r>
            <a:br>
              <a:rPr lang="es-ES_tradnl" altLang="es-ES" sz="2400" dirty="0">
                <a:ea typeface="ＭＳ Ｐゴシック" pitchFamily="34" charset="-128"/>
              </a:rPr>
            </a:br>
            <a:r>
              <a:rPr lang="es-ES_tradnl" altLang="es-ES" sz="2400" dirty="0" err="1">
                <a:ea typeface="ＭＳ Ｐゴシック" pitchFamily="34" charset="-128"/>
              </a:rPr>
              <a:t>main</a:t>
            </a:r>
            <a:r>
              <a:rPr lang="es-ES_tradnl" altLang="es-ES" sz="2400" dirty="0">
                <a:ea typeface="ＭＳ Ｐゴシック" pitchFamily="34" charset="-128"/>
              </a:rPr>
              <a:t>. En este caso, pasarla por</a:t>
            </a:r>
            <a:br>
              <a:rPr lang="es-ES_tradnl" altLang="es-ES" sz="2400" dirty="0">
                <a:ea typeface="ＭＳ Ｐゴシック" pitchFamily="34" charset="-128"/>
              </a:rPr>
            </a:br>
            <a:r>
              <a:rPr lang="es-ES_tradnl" altLang="es-ES" sz="2400" dirty="0">
                <a:ea typeface="ＭＳ Ｐゴシック" pitchFamily="34" charset="-128"/>
              </a:rPr>
              <a:t>referencia a todas las funciones.</a:t>
            </a:r>
          </a:p>
          <a:p>
            <a:pPr lvl="1">
              <a:defRPr/>
            </a:pPr>
            <a:r>
              <a:rPr lang="es-ES_tradnl" altLang="es-ES" sz="2400" dirty="0">
                <a:ea typeface="ＭＳ Ｐゴシック" pitchFamily="34" charset="-128"/>
              </a:rPr>
              <a:t>O bien redefinimos el intérprete de comandos como una nueva clase...</a:t>
            </a:r>
          </a:p>
          <a:p>
            <a:pPr>
              <a:defRPr/>
            </a:pPr>
            <a:r>
              <a:rPr lang="es-ES_tradnl" altLang="es-ES" sz="2600" dirty="0">
                <a:ea typeface="ＭＳ Ｐゴシック" pitchFamily="34" charset="-128"/>
              </a:rPr>
              <a:t>Por simplicidad, suponemos que es una variable global. Aunque no tiene por qué ser lo mejor...</a:t>
            </a:r>
          </a:p>
        </p:txBody>
      </p:sp>
      <p:sp>
        <p:nvSpPr>
          <p:cNvPr id="30724" name="Marcador de número de diapositiva 3">
            <a:extLst>
              <a:ext uri="{FF2B5EF4-FFF2-40B4-BE49-F238E27FC236}">
                <a16:creationId xmlns:a16="http://schemas.microsoft.com/office/drawing/2014/main" id="{6FB71179-6636-2128-F85E-02BCD6C94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CC1815E8-DDDC-49C5-831B-28EECF021EBA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18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1118A1CA-0719-4038-91CE-5C284BE5F5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2819400"/>
            <a:ext cx="3200400" cy="1570038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4000">
                <a:srgbClr val="FF8585"/>
              </a:gs>
              <a:gs pos="100000">
                <a:srgbClr val="FF616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dirty="0">
                <a:solidFill>
                  <a:srgbClr val="000000"/>
                </a:solidFill>
              </a:rPr>
              <a:t>¡Aquí tenéis que empezar a tomar vuestras propias decisiones de diseño!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ítulo 1">
            <a:extLst>
              <a:ext uri="{FF2B5EF4-FFF2-40B4-BE49-F238E27FC236}">
                <a16:creationId xmlns:a16="http://schemas.microsoft.com/office/drawing/2014/main" id="{AD32AA2A-283C-FBEB-3432-D99D86ECC0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006 – Diccionario de cuacs</a:t>
            </a:r>
            <a:br>
              <a:rPr lang="es-ES" altLang="es-ES" sz="3600">
                <a:ea typeface="ＭＳ Ｐゴシック" panose="020B0600070205080204" pitchFamily="34" charset="-128"/>
              </a:rPr>
            </a:br>
            <a:r>
              <a:rPr lang="es-ES" altLang="es-ES" sz="3600">
                <a:ea typeface="ＭＳ Ｐゴシック" panose="020B0600070205080204" pitchFamily="34" charset="-128"/>
              </a:rPr>
              <a:t>con listas</a:t>
            </a:r>
          </a:p>
        </p:txBody>
      </p:sp>
      <p:sp>
        <p:nvSpPr>
          <p:cNvPr id="27651" name="Marcador de contenido 2">
            <a:extLst>
              <a:ext uri="{FF2B5EF4-FFF2-40B4-BE49-F238E27FC236}">
                <a16:creationId xmlns:a16="http://schemas.microsoft.com/office/drawing/2014/main" id="{B1B037EF-0594-4021-B75C-5C3201A3A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295400"/>
            <a:ext cx="8534400" cy="5029200"/>
          </a:xfrm>
        </p:spPr>
        <p:txBody>
          <a:bodyPr/>
          <a:lstStyle/>
          <a:p>
            <a:pPr>
              <a:defRPr/>
            </a:pPr>
            <a:r>
              <a:rPr lang="es-ES_tradnl" altLang="es-ES" sz="2600" dirty="0">
                <a:ea typeface="ＭＳ Ｐゴシック" panose="020B0600070205080204" pitchFamily="34" charset="-128"/>
              </a:rPr>
              <a:t>Las operaciones del intérprete de comandos se</a:t>
            </a:r>
            <a:br>
              <a:rPr lang="es-ES_tradnl" altLang="es-ES" sz="2600" dirty="0">
                <a:ea typeface="ＭＳ Ｐゴシック" panose="020B0600070205080204" pitchFamily="34" charset="-128"/>
              </a:rPr>
            </a:br>
            <a:r>
              <a:rPr lang="es-ES_tradnl" altLang="es-ES" sz="2600" dirty="0">
                <a:ea typeface="ＭＳ Ｐゴシック" panose="020B0600070205080204" pitchFamily="34" charset="-128"/>
              </a:rPr>
              <a:t>basan en las del diccionario:</a:t>
            </a:r>
          </a:p>
          <a:p>
            <a:pPr>
              <a:buFont typeface="Wingdings" panose="05000000000000000000" pitchFamily="2" charset="2"/>
              <a:buNone/>
              <a:defRPr/>
            </a:pPr>
            <a:endParaRPr lang="es-ES_tradnl" altLang="es-ES" sz="1100" dirty="0">
              <a:latin typeface="Lucida Console" panose="020B0609040504020204" pitchFamily="49" charset="0"/>
              <a:ea typeface="ＭＳ Ｐゴシック" panose="020B0600070205080204" pitchFamily="34" charset="-128"/>
            </a:endParaRP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void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s-ES_tradnl" altLang="es-ES" sz="1800" b="1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procesar_pcuac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()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{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Cuac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nuevo;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nuevo.leer_pcuac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();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</a:t>
            </a:r>
            <a:r>
              <a:rPr lang="es-ES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dic.insertar</a:t>
            </a: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(nuevo);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</a:t>
            </a:r>
            <a:r>
              <a:rPr lang="es-ES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cout</a:t>
            </a: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&lt;&lt; </a:t>
            </a:r>
            <a:r>
              <a:rPr lang="es-ES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dic.numElem</a:t>
            </a: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() &lt;&lt; " </a:t>
            </a:r>
            <a:r>
              <a:rPr lang="es-ES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cuac</a:t>
            </a: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";</a:t>
            </a:r>
            <a:endParaRPr lang="es-ES_tradnl" altLang="es-ES" sz="1800" dirty="0">
              <a:latin typeface="Lucida Console" panose="020B0609040504020204" pitchFamily="49" charset="0"/>
              <a:ea typeface="ＭＳ Ｐゴシック" panose="020B0600070205080204" pitchFamily="34" charset="-128"/>
            </a:endParaRP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}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void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s-ES_tradnl" altLang="es-ES" sz="1800" b="1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procesar_follow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()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{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string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nombre;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cout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&lt;&lt; </a:t>
            </a: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"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follow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"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&lt;&lt; nombre &lt;&lt;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endl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;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dic.follow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(nombre);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}</a:t>
            </a:r>
          </a:p>
          <a:p>
            <a:pPr marL="715963"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...</a:t>
            </a:r>
            <a:endParaRPr lang="es-ES_tradnl" altLang="es-ES" sz="1800" dirty="0">
              <a:latin typeface="Lucida Console" panose="020B0609040504020204" pitchFamily="49" charset="0"/>
              <a:ea typeface="ＭＳ Ｐゴシック" panose="020B0600070205080204" pitchFamily="34" charset="-128"/>
            </a:endParaRPr>
          </a:p>
        </p:txBody>
      </p:sp>
      <p:sp>
        <p:nvSpPr>
          <p:cNvPr id="31748" name="Marcador de número de diapositiva 3">
            <a:extLst>
              <a:ext uri="{FF2B5EF4-FFF2-40B4-BE49-F238E27FC236}">
                <a16:creationId xmlns:a16="http://schemas.microsoft.com/office/drawing/2014/main" id="{C2E56948-EA65-DA58-3443-9C5F8D229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FE9489C-E214-441F-A691-B29BC9FD5FB0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19</a:t>
            </a:fld>
            <a:endParaRPr lang="es-ES" altLang="es-ES" sz="1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ítulo 1">
            <a:extLst>
              <a:ext uri="{FF2B5EF4-FFF2-40B4-BE49-F238E27FC236}">
                <a16:creationId xmlns:a16="http://schemas.microsoft.com/office/drawing/2014/main" id="{1B0AAB6E-AE5A-25F8-2910-2CA9F66A95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006 – Diccionario de cuacs</a:t>
            </a:r>
            <a:br>
              <a:rPr lang="es-ES" altLang="es-ES" sz="3600">
                <a:ea typeface="ＭＳ Ｐゴシック" panose="020B0600070205080204" pitchFamily="34" charset="-128"/>
              </a:rPr>
            </a:br>
            <a:r>
              <a:rPr lang="es-ES" altLang="es-ES" sz="3600">
                <a:ea typeface="ＭＳ Ｐゴシック" panose="020B0600070205080204" pitchFamily="34" charset="-128"/>
              </a:rPr>
              <a:t>con listas</a:t>
            </a:r>
          </a:p>
        </p:txBody>
      </p:sp>
      <p:sp>
        <p:nvSpPr>
          <p:cNvPr id="28675" name="Marcador de contenido 2">
            <a:extLst>
              <a:ext uri="{FF2B5EF4-FFF2-40B4-BE49-F238E27FC236}">
                <a16:creationId xmlns:a16="http://schemas.microsoft.com/office/drawing/2014/main" id="{319C8FB8-9815-4FCB-9B83-6424267C0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19200"/>
            <a:ext cx="8001000" cy="3276600"/>
          </a:xfrm>
        </p:spPr>
        <p:txBody>
          <a:bodyPr/>
          <a:lstStyle/>
          <a:p>
            <a:pPr>
              <a:defRPr/>
            </a:pPr>
            <a:r>
              <a:rPr lang="es-ES_tradnl" altLang="es-ES" sz="2600" dirty="0">
                <a:ea typeface="ＭＳ Ｐゴシック" panose="020B0600070205080204" pitchFamily="34" charset="-128"/>
              </a:rPr>
              <a:t>Y ahora implementar los métodos de las clases:</a:t>
            </a:r>
          </a:p>
          <a:p>
            <a:pPr marL="361950" lvl="1" indent="0">
              <a:buClr>
                <a:schemeClr val="tx2"/>
              </a:buClr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DiccionarioCuacs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::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DiccionarioCuacs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()</a:t>
            </a:r>
            <a:endParaRPr lang="es-ES" altLang="es-ES" sz="1800" dirty="0">
              <a:latin typeface="Lucida Console" panose="020B0609040504020204" pitchFamily="49" charset="0"/>
              <a:ea typeface="ＭＳ Ｐゴシック" panose="020B0600070205080204" pitchFamily="34" charset="-128"/>
            </a:endParaRPr>
          </a:p>
          <a:p>
            <a:pPr marL="361950" lvl="1" indent="0">
              <a:buClr>
                <a:schemeClr val="tx2"/>
              </a:buClr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{</a:t>
            </a:r>
          </a:p>
          <a:p>
            <a:pPr marL="361950" lvl="1" indent="0">
              <a:buClr>
                <a:schemeClr val="tx2"/>
              </a:buClr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contador= 0;</a:t>
            </a:r>
          </a:p>
          <a:p>
            <a:pPr marL="361950" lvl="1" indent="0">
              <a:buClr>
                <a:schemeClr val="tx2"/>
              </a:buClr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}</a:t>
            </a:r>
          </a:p>
          <a:p>
            <a:pPr marL="361950" indent="0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void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DiccionarioCuacs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::</a:t>
            </a:r>
            <a:r>
              <a:rPr lang="es-ES_tradnl" altLang="es-ES" sz="1800" dirty="0">
                <a:latin typeface="Lucida Console" panose="020B0609040504020204" pitchFamily="49" charset="0"/>
              </a:rPr>
              <a:t>insertar (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Cuac</a:t>
            </a:r>
            <a:r>
              <a:rPr lang="es-ES_tradnl" altLang="es-ES" sz="1800" dirty="0">
                <a:latin typeface="Lucida Console" panose="020B0609040504020204" pitchFamily="49" charset="0"/>
              </a:rPr>
              <a:t> nuevo) 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{</a:t>
            </a:r>
          </a:p>
          <a:p>
            <a:pPr marL="361950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Insertar el nuevo </a:t>
            </a:r>
            <a:r>
              <a:rPr lang="es-ES_tradnl" altLang="es-ES" sz="1800" dirty="0" err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cuac</a:t>
            </a: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en lista de forma ordenada</a:t>
            </a:r>
          </a:p>
          <a:p>
            <a:pPr marL="361950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contador++</a:t>
            </a:r>
          </a:p>
          <a:p>
            <a:pPr marL="361950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}</a:t>
            </a:r>
            <a:endParaRPr lang="es-ES" altLang="es-ES" sz="1800" dirty="0">
              <a:latin typeface="Lucida Console" panose="020B0609040504020204" pitchFamily="49" charset="0"/>
              <a:ea typeface="ＭＳ Ｐゴシック" panose="020B0600070205080204" pitchFamily="34" charset="-128"/>
            </a:endParaRPr>
          </a:p>
          <a:p>
            <a:pPr marL="361950" lvl="1" indent="0">
              <a:buClr>
                <a:schemeClr val="tx2"/>
              </a:buClr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  <a:ea typeface="ＭＳ Ｐゴシック" panose="020B0600070205080204" pitchFamily="34" charset="-128"/>
              </a:rPr>
              <a:t>...</a:t>
            </a:r>
          </a:p>
        </p:txBody>
      </p:sp>
      <p:sp>
        <p:nvSpPr>
          <p:cNvPr id="32772" name="Marcador de número de diapositiva 3">
            <a:extLst>
              <a:ext uri="{FF2B5EF4-FFF2-40B4-BE49-F238E27FC236}">
                <a16:creationId xmlns:a16="http://schemas.microsoft.com/office/drawing/2014/main" id="{9C347F7C-5A87-2D81-0F96-0BA202DE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678896E-7EAD-4333-953E-818B36A7156B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20</a:t>
            </a:fld>
            <a:endParaRPr lang="es-ES" altLang="es-ES" sz="1000"/>
          </a:p>
        </p:txBody>
      </p:sp>
      <p:sp>
        <p:nvSpPr>
          <p:cNvPr id="2" name="1 Rectángulo">
            <a:extLst>
              <a:ext uri="{FF2B5EF4-FFF2-40B4-BE49-F238E27FC236}">
                <a16:creationId xmlns:a16="http://schemas.microsoft.com/office/drawing/2014/main" id="{1C311BC3-D921-47A4-9759-52C9F226D853}"/>
              </a:ext>
            </a:extLst>
          </p:cNvPr>
          <p:cNvSpPr/>
          <p:nvPr/>
        </p:nvSpPr>
        <p:spPr>
          <a:xfrm>
            <a:off x="5475288" y="4191000"/>
            <a:ext cx="3211512" cy="13843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s-ES_tradnl" altLang="es-ES" sz="2800" dirty="0">
                <a:solidFill>
                  <a:srgbClr val="000000"/>
                </a:solidFill>
                <a:latin typeface="Arial" charset="0"/>
              </a:rPr>
              <a:t>¡Y acordarse de </a:t>
            </a:r>
            <a:r>
              <a:rPr lang="es-ES_tradnl" altLang="es-ES" sz="2800" dirty="0" err="1">
                <a:solidFill>
                  <a:srgbClr val="000000"/>
                </a:solidFill>
                <a:latin typeface="Arial" charset="0"/>
              </a:rPr>
              <a:t>modularizar</a:t>
            </a:r>
            <a:r>
              <a:rPr lang="es-ES_tradnl" altLang="es-ES" sz="2800" dirty="0">
                <a:solidFill>
                  <a:srgbClr val="000000"/>
                </a:solidFill>
                <a:latin typeface="Arial" charset="0"/>
              </a:rPr>
              <a:t> el programa!</a:t>
            </a:r>
            <a:endParaRPr lang="es-ES" sz="2800" dirty="0">
              <a:latin typeface="Arial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ítulo 1">
            <a:extLst>
              <a:ext uri="{FF2B5EF4-FFF2-40B4-BE49-F238E27FC236}">
                <a16:creationId xmlns:a16="http://schemas.microsoft.com/office/drawing/2014/main" id="{570D301D-8B78-5221-9ED4-FB6BCD20F8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921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Breve introducción al tipo list&lt;T&gt;</a:t>
            </a:r>
          </a:p>
        </p:txBody>
      </p:sp>
      <p:sp>
        <p:nvSpPr>
          <p:cNvPr id="18435" name="Marcador de contenido 2">
            <a:extLst>
              <a:ext uri="{FF2B5EF4-FFF2-40B4-BE49-F238E27FC236}">
                <a16:creationId xmlns:a16="http://schemas.microsoft.com/office/drawing/2014/main" id="{8B7CE350-5BEB-4FFE-9AD0-0AF170F9D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990600"/>
            <a:ext cx="8763000" cy="5486400"/>
          </a:xfrm>
        </p:spPr>
        <p:txBody>
          <a:bodyPr/>
          <a:lstStyle/>
          <a:p>
            <a:pPr>
              <a:defRPr/>
            </a:pPr>
            <a:r>
              <a:rPr lang="es-ES_tradnl" altLang="es-ES" sz="2800" b="1" dirty="0">
                <a:ea typeface="ＭＳ Ｐゴシック" pitchFamily="34" charset="-128"/>
              </a:rPr>
              <a:t>STL: Standard </a:t>
            </a:r>
            <a:r>
              <a:rPr lang="es-ES_tradnl" altLang="es-ES" sz="2800" b="1" dirty="0" err="1">
                <a:ea typeface="ＭＳ Ｐゴシック" pitchFamily="34" charset="-128"/>
              </a:rPr>
              <a:t>Template</a:t>
            </a:r>
            <a:r>
              <a:rPr lang="es-ES_tradnl" altLang="es-ES" sz="2800" b="1" dirty="0">
                <a:ea typeface="ＭＳ Ｐゴシック" pitchFamily="34" charset="-128"/>
              </a:rPr>
              <a:t> </a:t>
            </a:r>
            <a:r>
              <a:rPr lang="es-ES_tradnl" altLang="es-ES" sz="2800" b="1" dirty="0" err="1">
                <a:ea typeface="ＭＳ Ｐゴシック" pitchFamily="34" charset="-128"/>
              </a:rPr>
              <a:t>Libray</a:t>
            </a:r>
            <a:r>
              <a:rPr lang="es-ES_tradnl" altLang="es-ES" sz="2800" dirty="0">
                <a:ea typeface="ＭＳ Ｐゴシック" pitchFamily="34" charset="-128"/>
              </a:rPr>
              <a:t>. Biblioteca estándar de C++, que contiene contenedores genéricos: </a:t>
            </a:r>
            <a:r>
              <a:rPr lang="es-ES_tradnl" altLang="es-ES" sz="2800" dirty="0" err="1">
                <a:ea typeface="ＭＳ Ｐゴシック" pitchFamily="34" charset="-128"/>
              </a:rPr>
              <a:t>list</a:t>
            </a:r>
            <a:r>
              <a:rPr lang="es-ES_tradnl" altLang="es-ES" sz="2800" dirty="0">
                <a:ea typeface="ＭＳ Ｐゴシック" pitchFamily="34" charset="-128"/>
              </a:rPr>
              <a:t>&lt;T&gt;, vector&lt;T&gt;, </a:t>
            </a:r>
            <a:r>
              <a:rPr lang="es-ES_tradnl" altLang="es-ES" sz="2800" dirty="0" err="1">
                <a:ea typeface="ＭＳ Ｐゴシック" pitchFamily="34" charset="-128"/>
              </a:rPr>
              <a:t>queue</a:t>
            </a:r>
            <a:r>
              <a:rPr lang="es-ES_tradnl" altLang="es-ES" sz="2800" dirty="0">
                <a:ea typeface="ＭＳ Ｐゴシック" pitchFamily="34" charset="-128"/>
              </a:rPr>
              <a:t>&lt;T&gt;, set&lt;T&gt;,  </a:t>
            </a:r>
            <a:r>
              <a:rPr lang="es-ES_tradnl" altLang="es-ES" sz="2800" dirty="0" err="1">
                <a:ea typeface="ＭＳ Ｐゴシック" pitchFamily="34" charset="-128"/>
              </a:rPr>
              <a:t>map</a:t>
            </a:r>
            <a:r>
              <a:rPr lang="es-ES_tradnl" altLang="es-ES" sz="2800" dirty="0">
                <a:ea typeface="ＭＳ Ｐゴシック" pitchFamily="34" charset="-128"/>
              </a:rPr>
              <a:t>&lt;C,V&gt;, etc.</a:t>
            </a:r>
          </a:p>
          <a:p>
            <a:pPr>
              <a:defRPr/>
            </a:pPr>
            <a:r>
              <a:rPr lang="es-ES_tradnl" altLang="es-ES" sz="2800" dirty="0">
                <a:ea typeface="ＭＳ Ｐゴシック" pitchFamily="34" charset="-128"/>
              </a:rPr>
              <a:t>Muy interesante, para aprovechar las implementaciones de los tipos lista, cola, etc.</a:t>
            </a:r>
          </a:p>
          <a:p>
            <a:pPr lvl="1">
              <a:defRPr/>
            </a:pPr>
            <a:r>
              <a:rPr lang="es-ES" altLang="es-ES" sz="2400" b="1" dirty="0">
                <a:ea typeface="ＭＳ Ｐゴシック" pitchFamily="34" charset="-128"/>
              </a:rPr>
              <a:t>Brevísimo manual de introducción a las listas de STL</a:t>
            </a:r>
            <a:r>
              <a:rPr lang="es-ES" altLang="es-ES" sz="2400" dirty="0">
                <a:ea typeface="ＭＳ Ｐゴシック" pitchFamily="34" charset="-128"/>
              </a:rPr>
              <a:t>: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ea typeface="ＭＳ Ｐゴシック" pitchFamily="34" charset="-128"/>
              </a:rPr>
              <a:t>http://dis.um.es/~ginesgm/files/doc/aed/listSTL.html</a:t>
            </a:r>
          </a:p>
          <a:p>
            <a:pPr lvl="1">
              <a:defRPr/>
            </a:pPr>
            <a:r>
              <a:rPr lang="es-ES" altLang="es-ES" sz="2400" b="1" dirty="0">
                <a:ea typeface="ＭＳ Ｐゴシック" pitchFamily="34" charset="-128"/>
              </a:rPr>
              <a:t>Referencia completa de las STL (sección </a:t>
            </a:r>
            <a:r>
              <a:rPr lang="es-ES" altLang="es-ES" sz="2400" b="1" dirty="0" err="1">
                <a:ea typeface="ＭＳ Ｐゴシック" pitchFamily="34" charset="-128"/>
              </a:rPr>
              <a:t>list</a:t>
            </a:r>
            <a:r>
              <a:rPr lang="es-ES" altLang="es-ES" sz="2400" b="1" dirty="0">
                <a:ea typeface="ＭＳ Ｐゴシック" pitchFamily="34" charset="-128"/>
              </a:rPr>
              <a:t>):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" altLang="es-ES" sz="2400" dirty="0">
                <a:ea typeface="ＭＳ Ｐゴシック" pitchFamily="34" charset="-128"/>
              </a:rPr>
              <a:t>http://www.cplusplus.com/reference/stl/list/</a:t>
            </a:r>
          </a:p>
          <a:p>
            <a:pPr lvl="1">
              <a:defRPr/>
            </a:pPr>
            <a:r>
              <a:rPr lang="es-ES" altLang="es-ES" sz="2400" b="1" dirty="0">
                <a:ea typeface="ＭＳ Ｐゴシック" pitchFamily="34" charset="-128"/>
              </a:rPr>
              <a:t>Manual de las STL para principiantes de la OIE: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2400" dirty="0">
                <a:ea typeface="ＭＳ Ｐゴシック" pitchFamily="34" charset="-128"/>
              </a:rPr>
              <a:t>http://dis.um.es/~ginesgm/files/doc/aed1/guiastl.pdf</a:t>
            </a:r>
          </a:p>
        </p:txBody>
      </p:sp>
      <p:sp>
        <p:nvSpPr>
          <p:cNvPr id="33796" name="Marcador de número de diapositiva 3">
            <a:extLst>
              <a:ext uri="{FF2B5EF4-FFF2-40B4-BE49-F238E27FC236}">
                <a16:creationId xmlns:a16="http://schemas.microsoft.com/office/drawing/2014/main" id="{16AE62C4-DA3D-7EB6-9865-1AD8156F7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FE1A05C-ADA0-45B6-8EED-AC64CFBA49C6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21</a:t>
            </a:fld>
            <a:endParaRPr lang="es-ES" altLang="es-ES" sz="1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ítulo 1">
            <a:extLst>
              <a:ext uri="{FF2B5EF4-FFF2-40B4-BE49-F238E27FC236}">
                <a16:creationId xmlns:a16="http://schemas.microsoft.com/office/drawing/2014/main" id="{B4198ABF-99ED-0C44-D5CF-97E6BE09DE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921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Breve introducción al tipo list&lt;T&gt;</a:t>
            </a:r>
          </a:p>
        </p:txBody>
      </p:sp>
      <p:sp>
        <p:nvSpPr>
          <p:cNvPr id="18435" name="Marcador de contenido 2">
            <a:extLst>
              <a:ext uri="{FF2B5EF4-FFF2-40B4-BE49-F238E27FC236}">
                <a16:creationId xmlns:a16="http://schemas.microsoft.com/office/drawing/2014/main" id="{E985C22B-40EA-4643-A32B-F82976FEC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14400"/>
            <a:ext cx="8534400" cy="5410200"/>
          </a:xfrm>
        </p:spPr>
        <p:txBody>
          <a:bodyPr/>
          <a:lstStyle/>
          <a:p>
            <a:pPr>
              <a:defRPr/>
            </a:pPr>
            <a:r>
              <a:rPr lang="es-ES_tradnl" altLang="es-ES" sz="2800" b="1" dirty="0" err="1">
                <a:ea typeface="ＭＳ Ｐゴシック" pitchFamily="34" charset="-128"/>
              </a:rPr>
              <a:t>list</a:t>
            </a:r>
            <a:r>
              <a:rPr lang="es-ES_tradnl" altLang="es-ES" sz="2800" b="1" dirty="0">
                <a:ea typeface="ＭＳ Ｐゴシック" pitchFamily="34" charset="-128"/>
              </a:rPr>
              <a:t>&lt;T&gt;: listas genéricas de tipo T.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2200" dirty="0">
                <a:latin typeface="Lucida Sans Typewriter" panose="020B0509030504030204" pitchFamily="49" charset="0"/>
                <a:ea typeface="ＭＳ Ｐゴシック" pitchFamily="34" charset="-128"/>
              </a:rPr>
              <a:t>#</a:t>
            </a:r>
            <a:r>
              <a:rPr lang="es-ES_tradnl" altLang="es-ES" sz="2200" dirty="0" err="1">
                <a:latin typeface="Lucida Sans Typewriter" panose="020B0509030504030204" pitchFamily="49" charset="0"/>
                <a:ea typeface="ＭＳ Ｐゴシック" pitchFamily="34" charset="-128"/>
              </a:rPr>
              <a:t>include</a:t>
            </a:r>
            <a:r>
              <a:rPr lang="es-ES_tradnl" altLang="es-ES" sz="2200" dirty="0">
                <a:latin typeface="Lucida Sans Typewriter" panose="020B0509030504030204" pitchFamily="49" charset="0"/>
                <a:ea typeface="ＭＳ Ｐゴシック" pitchFamily="34" charset="-128"/>
              </a:rPr>
              <a:t> &lt;</a:t>
            </a:r>
            <a:r>
              <a:rPr lang="es-ES_tradnl" altLang="es-ES" sz="2200" dirty="0" err="1">
                <a:latin typeface="Lucida Sans Typewriter" panose="020B0509030504030204" pitchFamily="49" charset="0"/>
                <a:ea typeface="ＭＳ Ｐゴシック" pitchFamily="34" charset="-128"/>
              </a:rPr>
              <a:t>list</a:t>
            </a:r>
            <a:r>
              <a:rPr lang="es-ES_tradnl" altLang="es-ES" sz="2200" dirty="0">
                <a:latin typeface="Lucida Sans Typewriter" panose="020B0509030504030204" pitchFamily="49" charset="0"/>
                <a:ea typeface="ＭＳ Ｐゴシック" pitchFamily="34" charset="-128"/>
              </a:rPr>
              <a:t>&gt;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2200" dirty="0" err="1">
                <a:latin typeface="Lucida Sans Typewriter" panose="020B0509030504030204" pitchFamily="49" charset="0"/>
                <a:ea typeface="ＭＳ Ｐゴシック" pitchFamily="34" charset="-128"/>
              </a:rPr>
              <a:t>using</a:t>
            </a:r>
            <a:r>
              <a:rPr lang="es-ES_tradnl" altLang="es-ES" sz="2200" dirty="0">
                <a:latin typeface="Lucida Sans Typewriter" panose="020B0509030504030204" pitchFamily="49" charset="0"/>
                <a:ea typeface="ＭＳ Ｐゴシック" pitchFamily="34" charset="-128"/>
              </a:rPr>
              <a:t> </a:t>
            </a:r>
            <a:r>
              <a:rPr lang="es-ES_tradnl" altLang="es-ES" sz="2200" dirty="0" err="1">
                <a:latin typeface="Lucida Sans Typewriter" panose="020B0509030504030204" pitchFamily="49" charset="0"/>
                <a:ea typeface="ＭＳ Ｐゴシック" pitchFamily="34" charset="-128"/>
              </a:rPr>
              <a:t>namespace</a:t>
            </a:r>
            <a:r>
              <a:rPr lang="es-ES_tradnl" altLang="es-ES" sz="2200" dirty="0">
                <a:latin typeface="Lucida Sans Typewriter" panose="020B0509030504030204" pitchFamily="49" charset="0"/>
                <a:ea typeface="ＭＳ Ｐゴシック" pitchFamily="34" charset="-128"/>
              </a:rPr>
              <a:t> </a:t>
            </a:r>
            <a:r>
              <a:rPr lang="es-ES_tradnl" altLang="es-ES" sz="2200" dirty="0" err="1">
                <a:latin typeface="Lucida Sans Typewriter" panose="020B0509030504030204" pitchFamily="49" charset="0"/>
                <a:ea typeface="ＭＳ Ｐゴシック" pitchFamily="34" charset="-128"/>
              </a:rPr>
              <a:t>std</a:t>
            </a:r>
            <a:r>
              <a:rPr lang="es-ES_tradnl" altLang="es-ES" sz="2200" dirty="0">
                <a:latin typeface="Lucida Sans Typewriter" panose="020B0509030504030204" pitchFamily="49" charset="0"/>
                <a:ea typeface="ＭＳ Ｐゴシック" pitchFamily="34" charset="-128"/>
              </a:rPr>
              <a:t>;</a:t>
            </a:r>
          </a:p>
          <a:p>
            <a:pPr lvl="1">
              <a:defRPr/>
            </a:pPr>
            <a:r>
              <a:rPr lang="es-ES_tradnl" altLang="es-ES" sz="2400" b="1" dirty="0">
                <a:ea typeface="ＭＳ Ｐゴシック" pitchFamily="34" charset="-128"/>
              </a:rPr>
              <a:t>Instanciación</a:t>
            </a:r>
            <a:r>
              <a:rPr lang="es-ES_tradnl" altLang="es-ES" sz="2400" dirty="0">
                <a:ea typeface="ＭＳ Ｐゴシック" pitchFamily="34" charset="-128"/>
              </a:rPr>
              <a:t>. Al definir una variable de tipo lista, hay que sustituir T por el tipo que se quiere almacenar.</a:t>
            </a:r>
          </a:p>
          <a:p>
            <a:pPr lvl="1">
              <a:defRPr/>
            </a:pPr>
            <a:r>
              <a:rPr lang="es-ES_tradnl" altLang="es-ES" sz="2400" dirty="0">
                <a:ea typeface="ＭＳ Ｐゴシック" pitchFamily="34" charset="-128"/>
              </a:rPr>
              <a:t>Listas creadas estáticamente:</a:t>
            </a:r>
            <a:endParaRPr lang="es-ES_tradnl" altLang="es-ES" sz="1800" dirty="0">
              <a:latin typeface="Lucida Sans Typewriter" panose="020B0509030504030204" pitchFamily="49" charset="0"/>
              <a:ea typeface="ＭＳ Ｐゴシック" pitchFamily="34" charset="-128"/>
            </a:endParaRP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list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&lt;</a:t>
            </a: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int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&gt; lista1;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list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&lt;string&gt; lista2;</a:t>
            </a:r>
          </a:p>
          <a:p>
            <a:pPr lvl="1">
              <a:defRPr/>
            </a:pPr>
            <a:r>
              <a:rPr lang="es-ES_tradnl" altLang="es-ES" sz="2400" dirty="0">
                <a:ea typeface="ＭＳ Ｐゴシック" pitchFamily="34" charset="-128"/>
              </a:rPr>
              <a:t>Listas creadas dinámicamente: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list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&lt;</a:t>
            </a: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int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&gt; *</a:t>
            </a: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plista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= new </a:t>
            </a: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list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&lt;</a:t>
            </a: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int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&gt;;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...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delete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 </a:t>
            </a:r>
            <a:r>
              <a:rPr lang="es-ES_tradnl" altLang="es-ES" sz="1800" dirty="0" err="1">
                <a:latin typeface="Lucida Sans Typewriter" panose="020B0509030504030204" pitchFamily="49" charset="0"/>
                <a:ea typeface="ＭＳ Ｐゴシック" pitchFamily="34" charset="-128"/>
              </a:rPr>
              <a:t>plista</a:t>
            </a:r>
            <a:r>
              <a:rPr lang="es-ES_tradnl" altLang="es-ES" sz="1800" dirty="0">
                <a:latin typeface="Lucida Sans Typewriter" panose="020B0509030504030204" pitchFamily="49" charset="0"/>
                <a:ea typeface="ＭＳ Ｐゴシック" pitchFamily="34" charset="-128"/>
              </a:rPr>
              <a:t>;</a:t>
            </a:r>
          </a:p>
          <a:p>
            <a:pPr lvl="1">
              <a:defRPr/>
            </a:pPr>
            <a:r>
              <a:rPr lang="es-ES_tradnl" altLang="es-ES" sz="2400" dirty="0">
                <a:ea typeface="ＭＳ Ｐゴシック" pitchFamily="34" charset="-128"/>
              </a:rPr>
              <a:t>En ambos casos, las listas se inicializan por defecto a listas vacías.</a:t>
            </a:r>
          </a:p>
        </p:txBody>
      </p:sp>
      <p:sp>
        <p:nvSpPr>
          <p:cNvPr id="34820" name="Marcador de número de diapositiva 3">
            <a:extLst>
              <a:ext uri="{FF2B5EF4-FFF2-40B4-BE49-F238E27FC236}">
                <a16:creationId xmlns:a16="http://schemas.microsoft.com/office/drawing/2014/main" id="{E3D22BA4-8FA8-A50E-171C-20460343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EF41DD7-8A29-4C4E-9949-56E4BBF0B98A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22</a:t>
            </a:fld>
            <a:endParaRPr lang="es-ES" altLang="es-ES" sz="1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ítulo 1">
            <a:extLst>
              <a:ext uri="{FF2B5EF4-FFF2-40B4-BE49-F238E27FC236}">
                <a16:creationId xmlns:a16="http://schemas.microsoft.com/office/drawing/2014/main" id="{63B06314-D870-FBAE-B006-ADDFD8EDA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9445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Breve introducción al tipo list&lt;T&gt;</a:t>
            </a:r>
          </a:p>
        </p:txBody>
      </p:sp>
      <p:sp>
        <p:nvSpPr>
          <p:cNvPr id="35843" name="Marcador de contenido 2">
            <a:extLst>
              <a:ext uri="{FF2B5EF4-FFF2-40B4-BE49-F238E27FC236}">
                <a16:creationId xmlns:a16="http://schemas.microsoft.com/office/drawing/2014/main" id="{A2BF453A-0901-F869-1387-602238E42A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1066800"/>
            <a:ext cx="8534400" cy="5334000"/>
          </a:xfrm>
        </p:spPr>
        <p:txBody>
          <a:bodyPr/>
          <a:lstStyle/>
          <a:p>
            <a:r>
              <a:rPr lang="es-ES_tradnl" altLang="es-ES" sz="2800" b="1">
                <a:ea typeface="ＭＳ Ｐゴシック" panose="020B0600070205080204" pitchFamily="34" charset="-128"/>
              </a:rPr>
              <a:t>Inserción en una lista:</a:t>
            </a:r>
          </a:p>
          <a:p>
            <a:pPr lvl="1"/>
            <a:r>
              <a:rPr lang="es-ES_tradnl" altLang="es-ES" sz="2400">
                <a:ea typeface="ＭＳ Ｐゴシック" panose="020B0600070205080204" pitchFamily="34" charset="-128"/>
              </a:rPr>
              <a:t>Insertar por el principio: </a:t>
            </a:r>
            <a:r>
              <a:rPr lang="es-ES_tradnl" altLang="es-ES" sz="2400" b="1">
                <a:ea typeface="ＭＳ Ｐゴシック" panose="020B0600070205080204" pitchFamily="34" charset="-128"/>
              </a:rPr>
              <a:t>push_front</a:t>
            </a:r>
            <a:r>
              <a:rPr lang="es-ES_tradnl" altLang="es-ES" sz="2400">
                <a:ea typeface="ＭＳ Ｐゴシック" panose="020B0600070205080204" pitchFamily="34" charset="-128"/>
              </a:rPr>
              <a:t>.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lista1.push_front(14);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lista2.push_front("Hola");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plista-&gt;push_front(9);</a:t>
            </a:r>
          </a:p>
          <a:p>
            <a:pPr lvl="1"/>
            <a:r>
              <a:rPr lang="es-ES_tradnl" altLang="es-ES" sz="2400">
                <a:ea typeface="ＭＳ Ｐゴシック" panose="020B0600070205080204" pitchFamily="34" charset="-128"/>
              </a:rPr>
              <a:t>Insertar por el final: </a:t>
            </a:r>
            <a:r>
              <a:rPr lang="es-ES_tradnl" altLang="es-ES" sz="2400" b="1">
                <a:ea typeface="ＭＳ Ｐゴシック" panose="020B0600070205080204" pitchFamily="34" charset="-128"/>
              </a:rPr>
              <a:t>push_back</a:t>
            </a:r>
            <a:r>
              <a:rPr lang="es-ES_tradnl" altLang="es-ES" sz="2400">
                <a:ea typeface="ＭＳ Ｐゴシック" panose="020B0600070205080204" pitchFamily="34" charset="-128"/>
              </a:rPr>
              <a:t>.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lista1.push_back(3);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plista-&gt;push_back(7);</a:t>
            </a:r>
            <a:endParaRPr lang="es-ES_tradnl" altLang="es-ES" sz="2800">
              <a:latin typeface="Lucida Sans Typewriter" panose="020B0509030504030204" pitchFamily="49" charset="0"/>
              <a:ea typeface="ＭＳ Ｐゴシック" panose="020B0600070205080204" pitchFamily="34" charset="-128"/>
            </a:endParaRPr>
          </a:p>
          <a:p>
            <a:pPr lvl="1"/>
            <a:r>
              <a:rPr lang="es-ES_tradnl" altLang="es-ES" sz="2400">
                <a:ea typeface="ＭＳ Ｐゴシック" panose="020B0600070205080204" pitchFamily="34" charset="-128"/>
              </a:rPr>
              <a:t>Tamaño de una lista: </a:t>
            </a:r>
            <a:r>
              <a:rPr lang="es-ES_tradnl" altLang="es-ES" sz="2400" b="1">
                <a:ea typeface="ＭＳ Ｐゴシック" panose="020B0600070205080204" pitchFamily="34" charset="-128"/>
              </a:rPr>
              <a:t>size</a:t>
            </a:r>
            <a:r>
              <a:rPr lang="es-ES_tradnl" altLang="es-ES" sz="2400">
                <a:ea typeface="ＭＳ Ｐゴシック" panose="020B0600070205080204" pitchFamily="34" charset="-128"/>
              </a:rPr>
              <a:t>.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int tam= lista1.size();</a:t>
            </a:r>
          </a:p>
          <a:p>
            <a:pPr lvl="1"/>
            <a:r>
              <a:rPr lang="es-ES_tradnl" altLang="es-ES" sz="2400">
                <a:ea typeface="ＭＳ Ｐゴシック" panose="020B0600070205080204" pitchFamily="34" charset="-128"/>
              </a:rPr>
              <a:t>Borrar todos los elementos: </a:t>
            </a:r>
            <a:r>
              <a:rPr lang="es-ES_tradnl" altLang="es-ES" sz="2400" b="1">
                <a:ea typeface="ＭＳ Ｐゴシック" panose="020B0600070205080204" pitchFamily="34" charset="-128"/>
              </a:rPr>
              <a:t>clear</a:t>
            </a:r>
            <a:r>
              <a:rPr lang="es-ES_tradnl" altLang="es-ES" sz="2400">
                <a:ea typeface="ＭＳ Ｐゴシック" panose="020B0600070205080204" pitchFamily="34" charset="-128"/>
              </a:rPr>
              <a:t>.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lista1.clear();</a:t>
            </a:r>
          </a:p>
          <a:p>
            <a:pPr marL="638175" lvl="2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plista-&gt;clear();</a:t>
            </a:r>
          </a:p>
        </p:txBody>
      </p:sp>
      <p:sp>
        <p:nvSpPr>
          <p:cNvPr id="35844" name="Marcador de número de diapositiva 3">
            <a:extLst>
              <a:ext uri="{FF2B5EF4-FFF2-40B4-BE49-F238E27FC236}">
                <a16:creationId xmlns:a16="http://schemas.microsoft.com/office/drawing/2014/main" id="{AF2E0E35-A476-716B-9F20-66FBDA546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A3DE666A-05C4-4C17-9662-F8B0099C3B61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23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C4217ABD-1FBF-4323-8067-71E64C2856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3000" y="4305300"/>
            <a:ext cx="3581400" cy="708025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2000" dirty="0">
                <a:solidFill>
                  <a:srgbClr val="000000"/>
                </a:solidFill>
              </a:rPr>
              <a:t>¡Cuidado! Según el estándar, puede ser un O(n).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ítulo 1">
            <a:extLst>
              <a:ext uri="{FF2B5EF4-FFF2-40B4-BE49-F238E27FC236}">
                <a16:creationId xmlns:a16="http://schemas.microsoft.com/office/drawing/2014/main" id="{FF03A4F3-BC0C-511F-A1A8-60C55D5398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5635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Breve introducción al tipo list&lt;T&gt;</a:t>
            </a:r>
          </a:p>
        </p:txBody>
      </p:sp>
      <p:sp>
        <p:nvSpPr>
          <p:cNvPr id="18435" name="Marcador de contenido 2">
            <a:extLst>
              <a:ext uri="{FF2B5EF4-FFF2-40B4-BE49-F238E27FC236}">
                <a16:creationId xmlns:a16="http://schemas.microsoft.com/office/drawing/2014/main" id="{70A2A323-8739-4AAF-BCFB-3CD1B5A0A3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533400"/>
            <a:ext cx="8763000" cy="5867400"/>
          </a:xfrm>
        </p:spPr>
        <p:txBody>
          <a:bodyPr/>
          <a:lstStyle/>
          <a:p>
            <a:pPr>
              <a:defRPr/>
            </a:pPr>
            <a:r>
              <a:rPr lang="es-ES_tradnl" altLang="es-ES" sz="2400" b="1" dirty="0">
                <a:ea typeface="ＭＳ Ｐゴシック" pitchFamily="34" charset="-128"/>
              </a:rPr>
              <a:t>Para recorrer una lista</a:t>
            </a:r>
            <a:r>
              <a:rPr lang="es-ES_tradnl" altLang="es-ES" sz="2400" dirty="0">
                <a:ea typeface="ＭＳ Ｐゴシック" pitchFamily="34" charset="-128"/>
              </a:rPr>
              <a:t> se usa un tipo </a:t>
            </a:r>
            <a:r>
              <a:rPr lang="es-ES_tradnl" altLang="es-ES" sz="2400" b="1" dirty="0">
                <a:ea typeface="ＭＳ Ｐゴシック" pitchFamily="34" charset="-128"/>
              </a:rPr>
              <a:t>iterador</a:t>
            </a:r>
            <a:r>
              <a:rPr lang="es-ES_tradnl" altLang="es-ES" sz="2400" dirty="0">
                <a:ea typeface="ＭＳ Ｐゴシック" pitchFamily="34" charset="-128"/>
              </a:rPr>
              <a:t>.</a:t>
            </a:r>
            <a:endParaRPr lang="es-ES_tradnl" altLang="es-ES" sz="2400" b="1" dirty="0">
              <a:ea typeface="ＭＳ Ｐゴシック" pitchFamily="34" charset="-128"/>
            </a:endParaRP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list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&lt;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int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&gt; lista;</a:t>
            </a:r>
          </a:p>
          <a:p>
            <a:pPr marL="344487" lvl="1" indent="0"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list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&lt;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int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&gt;::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iterator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 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;</a:t>
            </a:r>
          </a:p>
          <a:p>
            <a:pPr>
              <a:defRPr/>
            </a:pPr>
            <a:r>
              <a:rPr lang="es-ES_tradnl" altLang="es-ES" sz="2400" b="1" dirty="0">
                <a:ea typeface="ＭＳ Ｐゴシック" pitchFamily="34" charset="-128"/>
              </a:rPr>
              <a:t>Operaciones principales sobre los iteradores:</a:t>
            </a:r>
          </a:p>
          <a:p>
            <a:pPr lvl="1">
              <a:lnSpc>
                <a:spcPct val="90000"/>
              </a:lnSpc>
              <a:defRPr/>
            </a:pPr>
            <a:r>
              <a:rPr lang="es-ES_tradnl" altLang="es-ES" sz="2200" b="1" dirty="0">
                <a:ea typeface="ＭＳ Ｐゴシック" pitchFamily="34" charset="-128"/>
              </a:rPr>
              <a:t>Inicializar</a:t>
            </a:r>
            <a:r>
              <a:rPr lang="es-ES_tradnl" altLang="es-ES" sz="2200" dirty="0">
                <a:ea typeface="ＭＳ Ｐゴシック" pitchFamily="34" charset="-128"/>
              </a:rPr>
              <a:t> al principio:</a:t>
            </a:r>
          </a:p>
          <a:p>
            <a:pPr marL="639762" lvl="2" indent="0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= 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lista.begin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();</a:t>
            </a:r>
          </a:p>
          <a:p>
            <a:pPr lvl="1">
              <a:lnSpc>
                <a:spcPct val="90000"/>
              </a:lnSpc>
              <a:defRPr/>
            </a:pPr>
            <a:r>
              <a:rPr lang="es-ES_tradnl" altLang="es-ES" sz="2200" b="1" dirty="0">
                <a:ea typeface="ＭＳ Ｐゴシック" pitchFamily="34" charset="-128"/>
              </a:rPr>
              <a:t>Avanzar</a:t>
            </a:r>
            <a:r>
              <a:rPr lang="es-ES_tradnl" altLang="es-ES" sz="2200" dirty="0">
                <a:ea typeface="ＭＳ Ｐゴシック" pitchFamily="34" charset="-128"/>
              </a:rPr>
              <a:t> el iterador (o retroceder):</a:t>
            </a:r>
          </a:p>
          <a:p>
            <a:pPr marL="639762" lvl="2" indent="0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++;   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--;</a:t>
            </a:r>
          </a:p>
          <a:p>
            <a:pPr lvl="1">
              <a:lnSpc>
                <a:spcPct val="90000"/>
              </a:lnSpc>
              <a:defRPr/>
            </a:pPr>
            <a:r>
              <a:rPr lang="es-ES_tradnl" altLang="es-ES" sz="2200" dirty="0">
                <a:ea typeface="ＭＳ Ｐゴシック" pitchFamily="34" charset="-128"/>
              </a:rPr>
              <a:t>Consultar el </a:t>
            </a:r>
            <a:r>
              <a:rPr lang="es-ES_tradnl" altLang="es-ES" sz="2200" b="1" dirty="0">
                <a:ea typeface="ＭＳ Ｐゴシック" pitchFamily="34" charset="-128"/>
              </a:rPr>
              <a:t>elemento actual</a:t>
            </a:r>
            <a:r>
              <a:rPr lang="es-ES_tradnl" altLang="es-ES" sz="2200" dirty="0">
                <a:ea typeface="ＭＳ Ｐゴシック" pitchFamily="34" charset="-128"/>
              </a:rPr>
              <a:t> apuntado por el iterador.</a:t>
            </a:r>
          </a:p>
          <a:p>
            <a:pPr marL="639762" lvl="2" indent="0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int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 actual= *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;</a:t>
            </a:r>
          </a:p>
          <a:p>
            <a:pPr lvl="1">
              <a:lnSpc>
                <a:spcPct val="90000"/>
              </a:lnSpc>
              <a:defRPr/>
            </a:pPr>
            <a:r>
              <a:rPr lang="es-ES_tradnl" altLang="es-ES" sz="2200" dirty="0">
                <a:ea typeface="ＭＳ Ｐゴシック" pitchFamily="34" charset="-128"/>
              </a:rPr>
              <a:t>Consultar si se ha llegado al </a:t>
            </a:r>
            <a:r>
              <a:rPr lang="es-ES_tradnl" altLang="es-ES" sz="2200" b="1" dirty="0">
                <a:ea typeface="ＭＳ Ｐゴシック" pitchFamily="34" charset="-128"/>
              </a:rPr>
              <a:t>final de la lista</a:t>
            </a:r>
            <a:r>
              <a:rPr lang="es-ES_tradnl" altLang="es-ES" sz="2200" dirty="0">
                <a:ea typeface="ＭＳ Ｐゴシック" pitchFamily="34" charset="-128"/>
              </a:rPr>
              <a:t>.</a:t>
            </a:r>
          </a:p>
          <a:p>
            <a:pPr marL="639762" lvl="2" indent="0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if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 (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==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lista.end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()) ...</a:t>
            </a:r>
          </a:p>
          <a:p>
            <a:pPr lvl="1">
              <a:lnSpc>
                <a:spcPct val="90000"/>
              </a:lnSpc>
              <a:defRPr/>
            </a:pPr>
            <a:r>
              <a:rPr lang="es-ES_tradnl" altLang="es-ES" sz="2200" dirty="0">
                <a:ea typeface="ＭＳ Ｐゴシック" pitchFamily="34" charset="-128"/>
              </a:rPr>
              <a:t>Insertar en una lista en una posición dada: </a:t>
            </a:r>
            <a:r>
              <a:rPr lang="es-ES_tradnl" altLang="es-ES" sz="2200" b="1" dirty="0" err="1">
                <a:ea typeface="ＭＳ Ｐゴシック" pitchFamily="34" charset="-128"/>
              </a:rPr>
              <a:t>insert</a:t>
            </a:r>
            <a:r>
              <a:rPr lang="es-ES_tradnl" altLang="es-ES" sz="2200" dirty="0">
                <a:ea typeface="ＭＳ Ｐゴシック" pitchFamily="34" charset="-128"/>
              </a:rPr>
              <a:t>.</a:t>
            </a:r>
          </a:p>
          <a:p>
            <a:pPr marL="639762" lvl="2" indent="0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lista.insert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(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, valor);</a:t>
            </a:r>
          </a:p>
          <a:p>
            <a:pPr lvl="1">
              <a:lnSpc>
                <a:spcPct val="90000"/>
              </a:lnSpc>
              <a:defRPr/>
            </a:pPr>
            <a:r>
              <a:rPr lang="es-ES_tradnl" altLang="es-ES" sz="2200" dirty="0">
                <a:ea typeface="ＭＳ Ｐゴシック" pitchFamily="34" charset="-128"/>
              </a:rPr>
              <a:t>Eliminar el valor apuntado por el iterador: </a:t>
            </a:r>
            <a:r>
              <a:rPr lang="es-ES_tradnl" altLang="es-ES" sz="2200" b="1" dirty="0">
                <a:ea typeface="ＭＳ Ｐゴシック" pitchFamily="34" charset="-128"/>
              </a:rPr>
              <a:t>erase</a:t>
            </a:r>
            <a:r>
              <a:rPr lang="es-ES_tradnl" altLang="es-ES" sz="2200" dirty="0">
                <a:ea typeface="ＭＳ Ｐゴシック" pitchFamily="34" charset="-128"/>
              </a:rPr>
              <a:t>.</a:t>
            </a:r>
          </a:p>
          <a:p>
            <a:pPr marL="639762" lvl="2" indent="0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lista.erase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(</a:t>
            </a:r>
            <a:r>
              <a:rPr lang="es-ES_tradnl" altLang="es-ES" sz="2000" dirty="0" err="1">
                <a:latin typeface="Lucida Sans Typewriter" panose="020B0509030504030204" pitchFamily="49" charset="0"/>
                <a:ea typeface="ＭＳ Ｐゴシック" pitchFamily="34" charset="-128"/>
              </a:rPr>
              <a:t>itLista</a:t>
            </a:r>
            <a:r>
              <a:rPr lang="es-ES_tradnl" altLang="es-ES" sz="2000" dirty="0">
                <a:latin typeface="Lucida Sans Typewriter" panose="020B0509030504030204" pitchFamily="49" charset="0"/>
                <a:ea typeface="ＭＳ Ｐゴシック" pitchFamily="34" charset="-128"/>
              </a:rPr>
              <a:t>);</a:t>
            </a:r>
          </a:p>
        </p:txBody>
      </p:sp>
      <p:sp>
        <p:nvSpPr>
          <p:cNvPr id="36868" name="Marcador de número de diapositiva 3">
            <a:extLst>
              <a:ext uri="{FF2B5EF4-FFF2-40B4-BE49-F238E27FC236}">
                <a16:creationId xmlns:a16="http://schemas.microsoft.com/office/drawing/2014/main" id="{F77B69EE-41A4-2B41-1F47-A2A7E9002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FC01201-5CF1-402A-BA86-D552069D3BA7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24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409DAD3B-61B4-4A96-AE62-420E4A9E8A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8400" y="2522538"/>
            <a:ext cx="2806700" cy="830262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1600" dirty="0">
                <a:solidFill>
                  <a:srgbClr val="000000"/>
                </a:solidFill>
              </a:rPr>
              <a:t>La posición </a:t>
            </a:r>
            <a:r>
              <a:rPr lang="es-ES" sz="1600" dirty="0" err="1">
                <a:solidFill>
                  <a:srgbClr val="000000"/>
                </a:solidFill>
              </a:rPr>
              <a:t>lista.end</a:t>
            </a:r>
            <a:r>
              <a:rPr lang="es-ES" sz="1600" dirty="0">
                <a:solidFill>
                  <a:srgbClr val="000000"/>
                </a:solidFill>
              </a:rPr>
              <a:t>() es </a:t>
            </a:r>
            <a:r>
              <a:rPr lang="es-ES" sz="1600" i="1" dirty="0">
                <a:solidFill>
                  <a:srgbClr val="000000"/>
                </a:solidFill>
              </a:rPr>
              <a:t>pasado</a:t>
            </a:r>
            <a:r>
              <a:rPr lang="es-ES" sz="1600" dirty="0">
                <a:solidFill>
                  <a:srgbClr val="000000"/>
                </a:solidFill>
              </a:rPr>
              <a:t> el último elemento. Es decir, cae fuera de la lista</a:t>
            </a:r>
          </a:p>
        </p:txBody>
      </p:sp>
      <p:cxnSp>
        <p:nvCxnSpPr>
          <p:cNvPr id="6" name="5 Conector recto de flecha">
            <a:extLst>
              <a:ext uri="{FF2B5EF4-FFF2-40B4-BE49-F238E27FC236}">
                <a16:creationId xmlns:a16="http://schemas.microsoft.com/office/drawing/2014/main" id="{F7E72B6F-FDE5-4A30-8D20-FDB3E76D69EE}"/>
              </a:ext>
            </a:extLst>
          </p:cNvPr>
          <p:cNvCxnSpPr>
            <a:endCxn id="8" idx="1"/>
          </p:cNvCxnSpPr>
          <p:nvPr/>
        </p:nvCxnSpPr>
        <p:spPr>
          <a:xfrm flipV="1">
            <a:off x="6770688" y="4500563"/>
            <a:ext cx="381000" cy="53816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5">
            <a:extLst>
              <a:ext uri="{FF2B5EF4-FFF2-40B4-BE49-F238E27FC236}">
                <a16:creationId xmlns:a16="http://schemas.microsoft.com/office/drawing/2014/main" id="{7332AC8D-DD33-4919-890D-384036DA93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51688" y="3962400"/>
            <a:ext cx="1892300" cy="1076325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1600" dirty="0">
                <a:solidFill>
                  <a:srgbClr val="000000"/>
                </a:solidFill>
              </a:rPr>
              <a:t>Insertar justo </a:t>
            </a:r>
            <a:r>
              <a:rPr lang="es-ES" sz="1600" i="1" dirty="0">
                <a:solidFill>
                  <a:srgbClr val="000000"/>
                </a:solidFill>
              </a:rPr>
              <a:t>delante</a:t>
            </a:r>
            <a:r>
              <a:rPr lang="es-ES" sz="1600" dirty="0">
                <a:solidFill>
                  <a:srgbClr val="000000"/>
                </a:solidFill>
              </a:rPr>
              <a:t> de la posición apuntada por el </a:t>
            </a:r>
            <a:r>
              <a:rPr lang="es-ES" sz="1600" dirty="0" err="1">
                <a:solidFill>
                  <a:srgbClr val="000000"/>
                </a:solidFill>
              </a:rPr>
              <a:t>iterador</a:t>
            </a:r>
            <a:r>
              <a:rPr lang="es-ES" sz="1600" dirty="0">
                <a:solidFill>
                  <a:srgbClr val="000000"/>
                </a:solidFill>
              </a:rPr>
              <a:t>.</a:t>
            </a:r>
          </a:p>
        </p:txBody>
      </p:sp>
      <p:cxnSp>
        <p:nvCxnSpPr>
          <p:cNvPr id="16" name="15 Conector recto de flecha">
            <a:extLst>
              <a:ext uri="{FF2B5EF4-FFF2-40B4-BE49-F238E27FC236}">
                <a16:creationId xmlns:a16="http://schemas.microsoft.com/office/drawing/2014/main" id="{AE1E2BC1-6AE9-4A7D-AFFA-C437CE9D701F}"/>
              </a:ext>
            </a:extLst>
          </p:cNvPr>
          <p:cNvCxnSpPr/>
          <p:nvPr/>
        </p:nvCxnSpPr>
        <p:spPr>
          <a:xfrm flipV="1">
            <a:off x="6553200" y="3352800"/>
            <a:ext cx="1371600" cy="107473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ítulo 1">
            <a:extLst>
              <a:ext uri="{FF2B5EF4-FFF2-40B4-BE49-F238E27FC236}">
                <a16:creationId xmlns:a16="http://schemas.microsoft.com/office/drawing/2014/main" id="{EF1409D5-EC97-2475-4052-08A94959AD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5635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Breve introducción al tipo list&lt;T&gt;</a:t>
            </a:r>
          </a:p>
        </p:txBody>
      </p:sp>
      <p:sp>
        <p:nvSpPr>
          <p:cNvPr id="37891" name="Marcador de contenido 2">
            <a:extLst>
              <a:ext uri="{FF2B5EF4-FFF2-40B4-BE49-F238E27FC236}">
                <a16:creationId xmlns:a16="http://schemas.microsoft.com/office/drawing/2014/main" id="{30AABC92-11AA-3658-AC3E-3398ADE6BD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762000"/>
            <a:ext cx="8763000" cy="5791200"/>
          </a:xfrm>
          <a:solidFill>
            <a:schemeClr val="bg1">
              <a:alpha val="83136"/>
            </a:schemeClr>
          </a:solidFill>
        </p:spPr>
        <p:txBody>
          <a:bodyPr/>
          <a:lstStyle/>
          <a:p>
            <a:r>
              <a:rPr lang="es-ES_tradnl" altLang="es-ES" sz="2400" b="1">
                <a:ea typeface="ＭＳ Ｐゴシック" panose="020B0600070205080204" pitchFamily="34" charset="-128"/>
              </a:rPr>
              <a:t>El tratamiento secuencial de elementos con iteradores en C++ sigue el Primer Modelo de Acceso secuencial:</a:t>
            </a:r>
          </a:p>
          <a:p>
            <a:endParaRPr lang="es-ES_tradnl" altLang="es-ES" sz="2400" b="1">
              <a:ea typeface="ＭＳ Ｐゴシック" panose="020B0600070205080204" pitchFamily="34" charset="-128"/>
            </a:endParaRPr>
          </a:p>
          <a:p>
            <a:endParaRPr lang="es-ES_tradnl" altLang="es-ES" sz="2400" b="1">
              <a:ea typeface="ＭＳ Ｐゴシック" panose="020B0600070205080204" pitchFamily="34" charset="-128"/>
            </a:endParaRPr>
          </a:p>
          <a:p>
            <a:endParaRPr lang="es-ES_tradnl" altLang="es-ES" sz="2400" b="1">
              <a:ea typeface="ＭＳ Ｐゴシック" panose="020B0600070205080204" pitchFamily="34" charset="-128"/>
            </a:endParaRPr>
          </a:p>
          <a:p>
            <a:endParaRPr lang="es-ES_tradnl" altLang="es-ES" sz="2400" b="1">
              <a:ea typeface="ＭＳ Ｐゴシック" panose="020B0600070205080204" pitchFamily="34" charset="-128"/>
            </a:endParaRPr>
          </a:p>
          <a:p>
            <a:endParaRPr lang="es-ES_tradnl" altLang="es-ES" sz="2400" b="1">
              <a:ea typeface="ＭＳ Ｐゴシック" panose="020B0600070205080204" pitchFamily="34" charset="-128"/>
            </a:endParaRPr>
          </a:p>
          <a:p>
            <a:endParaRPr lang="es-ES_tradnl" altLang="es-ES" sz="2400" b="1">
              <a:ea typeface="ＭＳ Ｐゴシック" panose="020B0600070205080204" pitchFamily="34" charset="-128"/>
            </a:endParaRPr>
          </a:p>
          <a:p>
            <a:r>
              <a:rPr lang="es-ES_tradnl" altLang="es-ES" sz="2400" b="1">
                <a:ea typeface="ＭＳ Ｐゴシック" panose="020B0600070205080204" pitchFamily="34" charset="-128"/>
              </a:rPr>
              <a:t>¡OJO! </a:t>
            </a:r>
            <a:r>
              <a:rPr lang="es-ES_tradnl" altLang="es-ES" sz="2400">
                <a:ea typeface="ＭＳ Ｐゴシック" panose="020B0600070205080204" pitchFamily="34" charset="-128"/>
              </a:rPr>
              <a:t>El acceso al elemento actual cuando se ha llegado a la marca fin (es decir, el acceso a *it cuando se cumple que it == lista.end()) produciría un error. </a:t>
            </a:r>
            <a:r>
              <a:rPr lang="es-ES_tradnl" altLang="es-ES" sz="2400">
                <a:ea typeface="ＭＳ Ｐゴシック" panose="020B0600070205080204" pitchFamily="34" charset="-128"/>
                <a:hlinkClick r:id="rId2"/>
              </a:rPr>
              <a:t>Nota de Paco Montoya</a:t>
            </a:r>
            <a:endParaRPr lang="es-ES_tradnl" altLang="es-ES" sz="2400">
              <a:ea typeface="ＭＳ Ｐゴシック" panose="020B0600070205080204" pitchFamily="34" charset="-128"/>
            </a:endParaRPr>
          </a:p>
          <a:p>
            <a:r>
              <a:rPr lang="es-ES_tradnl" altLang="es-ES" sz="2400">
                <a:ea typeface="ＭＳ Ｐゴシック" panose="020B0600070205080204" pitchFamily="34" charset="-128"/>
              </a:rPr>
              <a:t>En las expresiones booleanas que combinen ambas cosas deben utilizarse los operadores booleanos en </a:t>
            </a:r>
            <a:r>
              <a:rPr lang="es-ES_tradnl" altLang="es-ES" sz="2400" i="1">
                <a:ea typeface="ＭＳ Ｐゴシック" panose="020B0600070205080204" pitchFamily="34" charset="-128"/>
              </a:rPr>
              <a:t>cortocircuito</a:t>
            </a:r>
            <a:r>
              <a:rPr lang="es-ES_tradnl" altLang="es-ES" sz="2400">
                <a:ea typeface="ＭＳ Ｐゴシック" panose="020B0600070205080204" pitchFamily="34" charset="-128"/>
              </a:rPr>
              <a:t> (&amp;&amp; y || ) para evitar accesos erróneos.</a:t>
            </a:r>
          </a:p>
        </p:txBody>
      </p:sp>
      <p:sp>
        <p:nvSpPr>
          <p:cNvPr id="37892" name="Marcador de número de diapositiva 3">
            <a:extLst>
              <a:ext uri="{FF2B5EF4-FFF2-40B4-BE49-F238E27FC236}">
                <a16:creationId xmlns:a16="http://schemas.microsoft.com/office/drawing/2014/main" id="{009E2752-79FC-1138-E6C0-55D2E047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A0CC696-D68F-4AC1-9CC8-59A46EDCDC27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25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E3A95904-8B6F-49D5-B6DE-2791BCE33A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1641475"/>
            <a:ext cx="1295400" cy="83185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dirty="0">
                <a:solidFill>
                  <a:srgbClr val="000000"/>
                </a:solidFill>
              </a:rPr>
              <a:t>Nota de I.P.</a:t>
            </a:r>
          </a:p>
        </p:txBody>
      </p:sp>
      <p:pic>
        <p:nvPicPr>
          <p:cNvPr id="37894" name="Picture 2" descr="D:\Mis documentos\Dropbox\A.E.D. 1-15-16\Practica\sesion3.png">
            <a:extLst>
              <a:ext uri="{FF2B5EF4-FFF2-40B4-BE49-F238E27FC236}">
                <a16:creationId xmlns:a16="http://schemas.microsoft.com/office/drawing/2014/main" id="{D8AC08E1-3946-2A48-F2AD-E1EDB80A2B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1350" y="1735138"/>
            <a:ext cx="5562600" cy="2303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ítulo 1">
            <a:extLst>
              <a:ext uri="{FF2B5EF4-FFF2-40B4-BE49-F238E27FC236}">
                <a16:creationId xmlns:a16="http://schemas.microsoft.com/office/drawing/2014/main" id="{82DCC7F1-D925-E82B-0103-9C22E6C1E2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6397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Breve introducción al tipo list&lt;T&gt;</a:t>
            </a:r>
          </a:p>
        </p:txBody>
      </p:sp>
      <p:sp>
        <p:nvSpPr>
          <p:cNvPr id="38915" name="Marcador de contenido 2">
            <a:extLst>
              <a:ext uri="{FF2B5EF4-FFF2-40B4-BE49-F238E27FC236}">
                <a16:creationId xmlns:a16="http://schemas.microsoft.com/office/drawing/2014/main" id="{D2AB8539-3A1A-3AA5-FC7F-A0B1774A63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762000"/>
            <a:ext cx="8077200" cy="5638800"/>
          </a:xfrm>
          <a:solidFill>
            <a:schemeClr val="bg1">
              <a:alpha val="85881"/>
            </a:schemeClr>
          </a:solidFill>
        </p:spPr>
        <p:txBody>
          <a:bodyPr/>
          <a:lstStyle/>
          <a:p>
            <a:r>
              <a:rPr lang="es-ES_tradnl" altLang="es-ES" sz="2400" b="1">
                <a:ea typeface="ＭＳ Ｐゴシック" panose="020B0600070205080204" pitchFamily="34" charset="-128"/>
              </a:rPr>
              <a:t>Ejemplo 1</a:t>
            </a:r>
            <a:r>
              <a:rPr lang="es-ES_tradnl" altLang="es-ES" sz="2400">
                <a:ea typeface="ＭＳ Ｐゴシック" panose="020B0600070205080204" pitchFamily="34" charset="-128"/>
              </a:rPr>
              <a:t>. Recorrer una lista de cadenas y escribirlas.</a:t>
            </a:r>
            <a:endParaRPr lang="es-ES_tradnl" altLang="es-ES" sz="2400" b="1">
              <a:ea typeface="ＭＳ Ｐゴシック" panose="020B0600070205080204" pitchFamily="34" charset="-128"/>
            </a:endParaRP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list&lt;string&gt; lista;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lista.push_front("Hola");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...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list&lt;string&gt;::iterator it;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for (it= lista.begin(); it!=lista.end(); it++)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   cout &lt;&lt; "Valor: " &lt;&lt; *it &lt;&lt; endl;</a:t>
            </a:r>
          </a:p>
          <a:p>
            <a:pPr marL="342900" lvl="1" indent="0">
              <a:buFont typeface="Wingdings" panose="05000000000000000000" pitchFamily="2" charset="2"/>
              <a:buNone/>
            </a:pPr>
            <a:endParaRPr lang="es-ES_tradnl" altLang="es-ES" sz="1600">
              <a:latin typeface="Lucida Sans Typewriter" panose="020B0509030504030204" pitchFamily="49" charset="0"/>
              <a:ea typeface="ＭＳ Ｐゴシック" panose="020B0600070205080204" pitchFamily="34" charset="-128"/>
            </a:endParaRPr>
          </a:p>
          <a:p>
            <a:r>
              <a:rPr lang="es-ES_tradnl" altLang="es-ES" sz="2400" b="1">
                <a:ea typeface="ＭＳ Ｐゴシック" panose="020B0600070205080204" pitchFamily="34" charset="-128"/>
              </a:rPr>
              <a:t>Ejemplo 2</a:t>
            </a:r>
            <a:r>
              <a:rPr lang="es-ES_tradnl" altLang="es-ES" sz="2400">
                <a:ea typeface="ＭＳ Ｐゴシック" panose="020B0600070205080204" pitchFamily="34" charset="-128"/>
              </a:rPr>
              <a:t>. Inserción ordenada de </a:t>
            </a:r>
            <a:r>
              <a:rPr lang="es-ES_tradnl" altLang="es-ES" sz="24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cadena</a:t>
            </a:r>
            <a:r>
              <a:rPr lang="es-ES_tradnl" altLang="es-ES" sz="2400">
                <a:ea typeface="ＭＳ Ｐゴシック" panose="020B0600070205080204" pitchFamily="34" charset="-128"/>
              </a:rPr>
              <a:t> en una lista (sin insertarla si ya estaba).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list&lt;string&gt;::iterator it= lista.begin();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while (it!=lista.end() &amp;&amp; *it&lt;cadena)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   it++;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if (it==lista.end() || *it!=cadena)</a:t>
            </a:r>
          </a:p>
          <a:p>
            <a:pPr marL="342900" lvl="1" indent="0"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Sans Typewriter" panose="020B0509030504030204" pitchFamily="49" charset="0"/>
                <a:ea typeface="ＭＳ Ｐゴシック" panose="020B0600070205080204" pitchFamily="34" charset="-128"/>
              </a:rPr>
              <a:t>   lista.insert(it, cadena);</a:t>
            </a:r>
          </a:p>
        </p:txBody>
      </p:sp>
      <p:sp>
        <p:nvSpPr>
          <p:cNvPr id="38916" name="Marcador de número de diapositiva 3">
            <a:extLst>
              <a:ext uri="{FF2B5EF4-FFF2-40B4-BE49-F238E27FC236}">
                <a16:creationId xmlns:a16="http://schemas.microsoft.com/office/drawing/2014/main" id="{6784C5F0-26A0-C47D-7FFA-D55E4431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115FE656-AED8-4700-908B-AF3924702D9B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26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AA352974-619F-4B89-B3FA-3E1492B72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0" y="5181600"/>
            <a:ext cx="2514600" cy="101600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2000" b="1" dirty="0">
                <a:solidFill>
                  <a:srgbClr val="000000"/>
                </a:solidFill>
              </a:rPr>
              <a:t>Nota</a:t>
            </a:r>
            <a:r>
              <a:rPr lang="es-ES" sz="2000" dirty="0">
                <a:solidFill>
                  <a:srgbClr val="000000"/>
                </a:solidFill>
              </a:rPr>
              <a:t>: devolver un puntero al objeto de la lista: &amp;(*</a:t>
            </a:r>
            <a:r>
              <a:rPr lang="es-ES" sz="2000" dirty="0" err="1">
                <a:solidFill>
                  <a:srgbClr val="000000"/>
                </a:solidFill>
              </a:rPr>
              <a:t>it</a:t>
            </a:r>
            <a:r>
              <a:rPr lang="es-ES" sz="2000" dirty="0">
                <a:solidFill>
                  <a:srgbClr val="000000"/>
                </a:solidFill>
              </a:rPr>
              <a:t>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">
  <a:themeElements>
    <a:clrScheme name="Red 10">
      <a:dk1>
        <a:srgbClr val="000000"/>
      </a:dk1>
      <a:lt1>
        <a:srgbClr val="FFFFFF"/>
      </a:lt1>
      <a:dk2>
        <a:srgbClr val="330066"/>
      </a:dk2>
      <a:lt2>
        <a:srgbClr val="808080"/>
      </a:lt2>
      <a:accent1>
        <a:srgbClr val="CCCC00"/>
      </a:accent1>
      <a:accent2>
        <a:srgbClr val="669999"/>
      </a:accent2>
      <a:accent3>
        <a:srgbClr val="FFFFFF"/>
      </a:accent3>
      <a:accent4>
        <a:srgbClr val="000000"/>
      </a:accent4>
      <a:accent5>
        <a:srgbClr val="E2E2AA"/>
      </a:accent5>
      <a:accent6>
        <a:srgbClr val="5C8A8A"/>
      </a:accent6>
      <a:hlink>
        <a:srgbClr val="7E9CE8"/>
      </a:hlink>
      <a:folHlink>
        <a:srgbClr val="D8D8EC"/>
      </a:folHlink>
    </a:clrScheme>
    <a:fontScheme name="Re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Red 1">
        <a:dk1>
          <a:srgbClr val="4F747B"/>
        </a:dk1>
        <a:lt1>
          <a:srgbClr val="FFFFFF"/>
        </a:lt1>
        <a:dk2>
          <a:srgbClr val="000000"/>
        </a:dk2>
        <a:lt2>
          <a:srgbClr val="C0C0C0"/>
        </a:lt2>
        <a:accent1>
          <a:srgbClr val="859868"/>
        </a:accent1>
        <a:accent2>
          <a:srgbClr val="5F5F5F"/>
        </a:accent2>
        <a:accent3>
          <a:srgbClr val="AAAAAA"/>
        </a:accent3>
        <a:accent4>
          <a:srgbClr val="DADADA"/>
        </a:accent4>
        <a:accent5>
          <a:srgbClr val="C2CAB9"/>
        </a:accent5>
        <a:accent6>
          <a:srgbClr val="555555"/>
        </a:accent6>
        <a:hlink>
          <a:srgbClr val="5F5F5F"/>
        </a:hlink>
        <a:folHlink>
          <a:srgbClr val="BA121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2">
        <a:dk1>
          <a:srgbClr val="3C0000"/>
        </a:dk1>
        <a:lt1>
          <a:srgbClr val="FFFFFF"/>
        </a:lt1>
        <a:dk2>
          <a:srgbClr val="4D0B0B"/>
        </a:dk2>
        <a:lt2>
          <a:srgbClr val="FFFFFF"/>
        </a:lt2>
        <a:accent1>
          <a:srgbClr val="666633"/>
        </a:accent1>
        <a:accent2>
          <a:srgbClr val="CC3300"/>
        </a:accent2>
        <a:accent3>
          <a:srgbClr val="B2AAAA"/>
        </a:accent3>
        <a:accent4>
          <a:srgbClr val="DADADA"/>
        </a:accent4>
        <a:accent5>
          <a:srgbClr val="B8B8AD"/>
        </a:accent5>
        <a:accent6>
          <a:srgbClr val="B92D00"/>
        </a:accent6>
        <a:hlink>
          <a:srgbClr val="CC9900"/>
        </a:hlink>
        <a:folHlink>
          <a:srgbClr val="CCCC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3">
        <a:dk1>
          <a:srgbClr val="666699"/>
        </a:dk1>
        <a:lt1>
          <a:srgbClr val="FFFFFF"/>
        </a:lt1>
        <a:dk2>
          <a:srgbClr val="15192B"/>
        </a:dk2>
        <a:lt2>
          <a:srgbClr val="CCCCFF"/>
        </a:lt2>
        <a:accent1>
          <a:srgbClr val="4F893D"/>
        </a:accent1>
        <a:accent2>
          <a:srgbClr val="666699"/>
        </a:accent2>
        <a:accent3>
          <a:srgbClr val="AAABAC"/>
        </a:accent3>
        <a:accent4>
          <a:srgbClr val="DADADA"/>
        </a:accent4>
        <a:accent5>
          <a:srgbClr val="B2C4AF"/>
        </a:accent5>
        <a:accent6>
          <a:srgbClr val="5C5C8A"/>
        </a:accent6>
        <a:hlink>
          <a:srgbClr val="CC9900"/>
        </a:hlink>
        <a:folHlink>
          <a:srgbClr val="4837C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4">
        <a:dk1>
          <a:srgbClr val="666699"/>
        </a:dk1>
        <a:lt1>
          <a:srgbClr val="FFFFFF"/>
        </a:lt1>
        <a:dk2>
          <a:srgbClr val="86001A"/>
        </a:dk2>
        <a:lt2>
          <a:srgbClr val="CCCC66"/>
        </a:lt2>
        <a:accent1>
          <a:srgbClr val="FF3300"/>
        </a:accent1>
        <a:accent2>
          <a:srgbClr val="FF6600"/>
        </a:accent2>
        <a:accent3>
          <a:srgbClr val="C3AAAB"/>
        </a:accent3>
        <a:accent4>
          <a:srgbClr val="DADADA"/>
        </a:accent4>
        <a:accent5>
          <a:srgbClr val="FFADAA"/>
        </a:accent5>
        <a:accent6>
          <a:srgbClr val="E75C00"/>
        </a:accent6>
        <a:hlink>
          <a:srgbClr val="CC9900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5">
        <a:dk1>
          <a:srgbClr val="666699"/>
        </a:dk1>
        <a:lt1>
          <a:srgbClr val="FFFFFF"/>
        </a:lt1>
        <a:dk2>
          <a:srgbClr val="000054"/>
        </a:dk2>
        <a:lt2>
          <a:srgbClr val="FFFFFF"/>
        </a:lt2>
        <a:accent1>
          <a:srgbClr val="3333FF"/>
        </a:accent1>
        <a:accent2>
          <a:srgbClr val="006699"/>
        </a:accent2>
        <a:accent3>
          <a:srgbClr val="AAAAB3"/>
        </a:accent3>
        <a:accent4>
          <a:srgbClr val="DADADA"/>
        </a:accent4>
        <a:accent5>
          <a:srgbClr val="ADADFF"/>
        </a:accent5>
        <a:accent6>
          <a:srgbClr val="005C8A"/>
        </a:accent6>
        <a:hlink>
          <a:srgbClr val="669900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6">
        <a:dk1>
          <a:srgbClr val="808080"/>
        </a:dk1>
        <a:lt1>
          <a:srgbClr val="FFFFFF"/>
        </a:lt1>
        <a:dk2>
          <a:srgbClr val="30054B"/>
        </a:dk2>
        <a:lt2>
          <a:srgbClr val="FFFFFF"/>
        </a:lt2>
        <a:accent1>
          <a:srgbClr val="797B9B"/>
        </a:accent1>
        <a:accent2>
          <a:srgbClr val="6B4FB1"/>
        </a:accent2>
        <a:accent3>
          <a:srgbClr val="ADAAB1"/>
        </a:accent3>
        <a:accent4>
          <a:srgbClr val="DADADA"/>
        </a:accent4>
        <a:accent5>
          <a:srgbClr val="BEBFCB"/>
        </a:accent5>
        <a:accent6>
          <a:srgbClr val="6047A0"/>
        </a:accent6>
        <a:hlink>
          <a:srgbClr val="7AACCE"/>
        </a:hlink>
        <a:folHlink>
          <a:srgbClr val="D8D8E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7">
        <a:dk1>
          <a:srgbClr val="808080"/>
        </a:dk1>
        <a:lt1>
          <a:srgbClr val="FFFFCC"/>
        </a:lt1>
        <a:dk2>
          <a:srgbClr val="29527B"/>
        </a:dk2>
        <a:lt2>
          <a:srgbClr val="FFFFFF"/>
        </a:lt2>
        <a:accent1>
          <a:srgbClr val="CCCC00"/>
        </a:accent1>
        <a:accent2>
          <a:srgbClr val="669999"/>
        </a:accent2>
        <a:accent3>
          <a:srgbClr val="ACB3BF"/>
        </a:accent3>
        <a:accent4>
          <a:srgbClr val="DADAAE"/>
        </a:accent4>
        <a:accent5>
          <a:srgbClr val="E2E2AA"/>
        </a:accent5>
        <a:accent6>
          <a:srgbClr val="5C8A8A"/>
        </a:accent6>
        <a:hlink>
          <a:srgbClr val="D8D8EC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8">
        <a:dk1>
          <a:srgbClr val="666699"/>
        </a:dk1>
        <a:lt1>
          <a:srgbClr val="FFFFFF"/>
        </a:lt1>
        <a:dk2>
          <a:srgbClr val="476949"/>
        </a:dk2>
        <a:lt2>
          <a:srgbClr val="FFFFFF"/>
        </a:lt2>
        <a:accent1>
          <a:srgbClr val="CC6600"/>
        </a:accent1>
        <a:accent2>
          <a:srgbClr val="CC9900"/>
        </a:accent2>
        <a:accent3>
          <a:srgbClr val="B1B9B1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45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9">
        <a:dk1>
          <a:srgbClr val="000000"/>
        </a:dk1>
        <a:lt1>
          <a:srgbClr val="FFFFFF"/>
        </a:lt1>
        <a:dk2>
          <a:srgbClr val="7C1302"/>
        </a:dk2>
        <a:lt2>
          <a:srgbClr val="CC9900"/>
        </a:lt2>
        <a:accent1>
          <a:srgbClr val="CC9900"/>
        </a:accent1>
        <a:accent2>
          <a:srgbClr val="CC3300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B92D00"/>
        </a:accent6>
        <a:hlink>
          <a:srgbClr val="80808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d 10">
        <a:dk1>
          <a:srgbClr val="000000"/>
        </a:dk1>
        <a:lt1>
          <a:srgbClr val="FFFFFF"/>
        </a:lt1>
        <a:dk2>
          <a:srgbClr val="330066"/>
        </a:dk2>
        <a:lt2>
          <a:srgbClr val="808080"/>
        </a:lt2>
        <a:accent1>
          <a:srgbClr val="CCCC00"/>
        </a:accent1>
        <a:accent2>
          <a:srgbClr val="669999"/>
        </a:accent2>
        <a:accent3>
          <a:srgbClr val="FFFFFF"/>
        </a:accent3>
        <a:accent4>
          <a:srgbClr val="000000"/>
        </a:accent4>
        <a:accent5>
          <a:srgbClr val="E2E2AA"/>
        </a:accent5>
        <a:accent6>
          <a:srgbClr val="5C8A8A"/>
        </a:accent6>
        <a:hlink>
          <a:srgbClr val="7E9CE8"/>
        </a:hlink>
        <a:folHlink>
          <a:srgbClr val="D8D8E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Network</Template>
  <TotalTime>0</TotalTime>
  <Words>2524</Words>
  <Application>Microsoft Office PowerPoint</Application>
  <PresentationFormat>Presentación en pantalla (4:3)</PresentationFormat>
  <Paragraphs>397</Paragraphs>
  <Slides>26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3" baseType="lpstr">
      <vt:lpstr>ＭＳ Ｐゴシック</vt:lpstr>
      <vt:lpstr>Arial</vt:lpstr>
      <vt:lpstr>Lucida Console</vt:lpstr>
      <vt:lpstr>Lucida Sans Typewriter</vt:lpstr>
      <vt:lpstr>Verdana</vt:lpstr>
      <vt:lpstr>Wingdings</vt:lpstr>
      <vt:lpstr>Red</vt:lpstr>
      <vt:lpstr>ALGORITMOS Y ESTRUCTURAS DE DATOS 1</vt:lpstr>
      <vt:lpstr>Programación modular</vt:lpstr>
      <vt:lpstr>Programación modular</vt:lpstr>
      <vt:lpstr>Programación modular</vt:lpstr>
      <vt:lpstr>Programación modular</vt:lpstr>
      <vt:lpstr>Compilación separada</vt:lpstr>
      <vt:lpstr>Compilación con make</vt:lpstr>
      <vt:lpstr>Compilación con make</vt:lpstr>
      <vt:lpstr>Compilación con make</vt:lpstr>
      <vt:lpstr>Planificación práctica</vt:lpstr>
      <vt:lpstr>005 – Intérprete de comandos</vt:lpstr>
      <vt:lpstr>005 – Intérprete de comandos</vt:lpstr>
      <vt:lpstr>005 – Intérprete de comandos</vt:lpstr>
      <vt:lpstr>005 – Intérprete de comandos</vt:lpstr>
      <vt:lpstr>006 – Diccionario de cuacs con listas</vt:lpstr>
      <vt:lpstr>006 – Diccionario de cuacs con listas</vt:lpstr>
      <vt:lpstr>006 – Diccionario de cuacs con listas</vt:lpstr>
      <vt:lpstr>006 – Diccionario de cuacs con listas</vt:lpstr>
      <vt:lpstr>006 – Diccionario de cuacs con listas</vt:lpstr>
      <vt:lpstr>006 – Diccionario de cuacs con listas</vt:lpstr>
      <vt:lpstr>Breve introducción al tipo list&lt;T&gt;</vt:lpstr>
      <vt:lpstr>Breve introducción al tipo list&lt;T&gt;</vt:lpstr>
      <vt:lpstr>Breve introducción al tipo list&lt;T&gt;</vt:lpstr>
      <vt:lpstr>Breve introducción al tipo list&lt;T&gt;</vt:lpstr>
      <vt:lpstr>Breve introducción al tipo list&lt;T&gt;</vt:lpstr>
      <vt:lpstr>Breve introducción al tipo list&lt;T&gt;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Ginés Garcia Mateos</dc:creator>
  <cp:lastModifiedBy>ABELWANCHENG JIANG WAN</cp:lastModifiedBy>
  <cp:revision>456</cp:revision>
  <cp:lastPrinted>1601-01-01T00:00:00Z</cp:lastPrinted>
  <dcterms:created xsi:type="dcterms:W3CDTF">1601-01-01T00:00:00Z</dcterms:created>
  <dcterms:modified xsi:type="dcterms:W3CDTF">2025-11-05T11:44:21Z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